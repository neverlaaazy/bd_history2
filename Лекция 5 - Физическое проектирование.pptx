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4"/>
  </p:notesMasterIdLst>
  <p:sldIdLst>
    <p:sldId id="320" r:id="rId2"/>
    <p:sldId id="322" r:id="rId3"/>
    <p:sldId id="323" r:id="rId4"/>
    <p:sldId id="324" r:id="rId5"/>
    <p:sldId id="325" r:id="rId6"/>
    <p:sldId id="326" r:id="rId7"/>
    <p:sldId id="256" r:id="rId8"/>
    <p:sldId id="257" r:id="rId9"/>
    <p:sldId id="290" r:id="rId10"/>
    <p:sldId id="293" r:id="rId11"/>
    <p:sldId id="292" r:id="rId12"/>
    <p:sldId id="403" r:id="rId13"/>
    <p:sldId id="258" r:id="rId14"/>
    <p:sldId id="382" r:id="rId15"/>
    <p:sldId id="380" r:id="rId16"/>
    <p:sldId id="294" r:id="rId17"/>
    <p:sldId id="295" r:id="rId18"/>
    <p:sldId id="299" r:id="rId19"/>
    <p:sldId id="300" r:id="rId20"/>
    <p:sldId id="301" r:id="rId21"/>
    <p:sldId id="303" r:id="rId22"/>
    <p:sldId id="302" r:id="rId23"/>
    <p:sldId id="304" r:id="rId24"/>
    <p:sldId id="305" r:id="rId25"/>
    <p:sldId id="310" r:id="rId26"/>
    <p:sldId id="312" r:id="rId27"/>
    <p:sldId id="404" r:id="rId28"/>
    <p:sldId id="311" r:id="rId29"/>
    <p:sldId id="405" r:id="rId30"/>
    <p:sldId id="307" r:id="rId31"/>
    <p:sldId id="306" r:id="rId32"/>
    <p:sldId id="314" r:id="rId33"/>
    <p:sldId id="317" r:id="rId34"/>
    <p:sldId id="318" r:id="rId35"/>
    <p:sldId id="319" r:id="rId36"/>
    <p:sldId id="327" r:id="rId37"/>
    <p:sldId id="328" r:id="rId38"/>
    <p:sldId id="385" r:id="rId39"/>
    <p:sldId id="387" r:id="rId40"/>
    <p:sldId id="409" r:id="rId41"/>
    <p:sldId id="330" r:id="rId42"/>
    <p:sldId id="332" r:id="rId43"/>
    <p:sldId id="333" r:id="rId44"/>
    <p:sldId id="334" r:id="rId45"/>
    <p:sldId id="361" r:id="rId46"/>
    <p:sldId id="335" r:id="rId47"/>
    <p:sldId id="336" r:id="rId48"/>
    <p:sldId id="338" r:id="rId49"/>
    <p:sldId id="339" r:id="rId50"/>
    <p:sldId id="340" r:id="rId51"/>
    <p:sldId id="342" r:id="rId52"/>
    <p:sldId id="343" r:id="rId53"/>
    <p:sldId id="344" r:id="rId54"/>
    <p:sldId id="345" r:id="rId55"/>
    <p:sldId id="346" r:id="rId56"/>
    <p:sldId id="347" r:id="rId57"/>
    <p:sldId id="348" r:id="rId58"/>
    <p:sldId id="352" r:id="rId59"/>
    <p:sldId id="350" r:id="rId60"/>
    <p:sldId id="389" r:id="rId61"/>
    <p:sldId id="390" r:id="rId62"/>
    <p:sldId id="354" r:id="rId63"/>
    <p:sldId id="355" r:id="rId64"/>
    <p:sldId id="356" r:id="rId65"/>
    <p:sldId id="406" r:id="rId66"/>
    <p:sldId id="359" r:id="rId67"/>
    <p:sldId id="410" r:id="rId68"/>
    <p:sldId id="407" r:id="rId69"/>
    <p:sldId id="360" r:id="rId70"/>
    <p:sldId id="395" r:id="rId71"/>
    <p:sldId id="396" r:id="rId72"/>
    <p:sldId id="397" r:id="rId73"/>
    <p:sldId id="398" r:id="rId74"/>
    <p:sldId id="399" r:id="rId75"/>
    <p:sldId id="400" r:id="rId76"/>
    <p:sldId id="391" r:id="rId77"/>
    <p:sldId id="393" r:id="rId78"/>
    <p:sldId id="402" r:id="rId79"/>
    <p:sldId id="394" r:id="rId80"/>
    <p:sldId id="408" r:id="rId81"/>
    <p:sldId id="375" r:id="rId82"/>
    <p:sldId id="376" r:id="rId83"/>
    <p:sldId id="377" r:id="rId84"/>
    <p:sldId id="378" r:id="rId85"/>
    <p:sldId id="379" r:id="rId86"/>
    <p:sldId id="368" r:id="rId87"/>
    <p:sldId id="369" r:id="rId88"/>
    <p:sldId id="370" r:id="rId89"/>
    <p:sldId id="371" r:id="rId90"/>
    <p:sldId id="372" r:id="rId91"/>
    <p:sldId id="373" r:id="rId92"/>
    <p:sldId id="374" r:id="rId9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Язык запросов" id="{523D80EF-F2C9-447A-B5E0-6167C1FA5887}">
          <p14:sldIdLst>
            <p14:sldId id="320"/>
            <p14:sldId id="322"/>
            <p14:sldId id="323"/>
            <p14:sldId id="324"/>
            <p14:sldId id="325"/>
            <p14:sldId id="326"/>
          </p14:sldIdLst>
        </p14:section>
        <p14:section name="DDL" id="{098AD31A-E477-4934-80DB-9D600275FA86}">
          <p14:sldIdLst>
            <p14:sldId id="256"/>
            <p14:sldId id="257"/>
            <p14:sldId id="290"/>
            <p14:sldId id="293"/>
            <p14:sldId id="292"/>
            <p14:sldId id="403"/>
            <p14:sldId id="258"/>
            <p14:sldId id="382"/>
            <p14:sldId id="380"/>
            <p14:sldId id="294"/>
            <p14:sldId id="295"/>
            <p14:sldId id="299"/>
            <p14:sldId id="300"/>
            <p14:sldId id="301"/>
            <p14:sldId id="303"/>
            <p14:sldId id="302"/>
            <p14:sldId id="304"/>
            <p14:sldId id="305"/>
            <p14:sldId id="310"/>
            <p14:sldId id="312"/>
            <p14:sldId id="404"/>
            <p14:sldId id="311"/>
            <p14:sldId id="405"/>
            <p14:sldId id="307"/>
            <p14:sldId id="306"/>
            <p14:sldId id="314"/>
            <p14:sldId id="317"/>
            <p14:sldId id="318"/>
            <p14:sldId id="319"/>
          </p14:sldIdLst>
        </p14:section>
        <p14:section name="DML" id="{083EA8D7-B188-42CC-A911-5466E67BD56B}">
          <p14:sldIdLst>
            <p14:sldId id="327"/>
            <p14:sldId id="328"/>
            <p14:sldId id="385"/>
            <p14:sldId id="387"/>
            <p14:sldId id="409"/>
            <p14:sldId id="330"/>
            <p14:sldId id="332"/>
          </p14:sldIdLst>
        </p14:section>
        <p14:section name="DQL Основы" id="{2C2F44AE-DC56-409A-B49C-E554E8A01932}">
          <p14:sldIdLst>
            <p14:sldId id="333"/>
            <p14:sldId id="334"/>
            <p14:sldId id="361"/>
            <p14:sldId id="335"/>
            <p14:sldId id="336"/>
            <p14:sldId id="338"/>
            <p14:sldId id="339"/>
            <p14:sldId id="340"/>
            <p14:sldId id="342"/>
            <p14:sldId id="343"/>
            <p14:sldId id="344"/>
            <p14:sldId id="345"/>
            <p14:sldId id="346"/>
            <p14:sldId id="347"/>
            <p14:sldId id="348"/>
            <p14:sldId id="352"/>
            <p14:sldId id="350"/>
            <p14:sldId id="389"/>
            <p14:sldId id="390"/>
            <p14:sldId id="354"/>
            <p14:sldId id="355"/>
            <p14:sldId id="356"/>
            <p14:sldId id="406"/>
            <p14:sldId id="359"/>
            <p14:sldId id="410"/>
            <p14:sldId id="407"/>
            <p14:sldId id="360"/>
            <p14:sldId id="395"/>
            <p14:sldId id="396"/>
            <p14:sldId id="397"/>
            <p14:sldId id="398"/>
            <p14:sldId id="399"/>
            <p14:sldId id="400"/>
            <p14:sldId id="391"/>
            <p14:sldId id="393"/>
            <p14:sldId id="402"/>
            <p14:sldId id="394"/>
            <p14:sldId id="408"/>
            <p14:sldId id="375"/>
            <p14:sldId id="376"/>
            <p14:sldId id="377"/>
            <p14:sldId id="378"/>
            <p14:sldId id="379"/>
            <p14:sldId id="368"/>
            <p14:sldId id="369"/>
            <p14:sldId id="370"/>
            <p14:sldId id="371"/>
            <p14:sldId id="372"/>
            <p14:sldId id="373"/>
            <p14:sldId id="374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48" autoAdjust="0"/>
    <p:restoredTop sz="62800" autoAdjust="0"/>
  </p:normalViewPr>
  <p:slideViewPr>
    <p:cSldViewPr snapToGrid="0">
      <p:cViewPr varScale="1">
        <p:scale>
          <a:sx n="113" d="100"/>
          <a:sy n="113" d="100"/>
        </p:scale>
        <p:origin x="132" y="408"/>
      </p:cViewPr>
      <p:guideLst>
        <p:guide pos="3840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163CCB-AA9C-46FE-A4EE-1E6A97AB203D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F07B36-9F44-47DC-85AE-4ACD687105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229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0868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295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330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0747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5604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663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1416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2736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Числовые типы данных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BIT: хранит значение от 0 до 16. Может выступать аналогом </a:t>
            </a:r>
            <a:r>
              <a:rPr lang="ru-RU" dirty="0" err="1"/>
              <a:t>булевого</a:t>
            </a:r>
            <a:r>
              <a:rPr lang="ru-RU" dirty="0"/>
              <a:t> типа в языках программирования (в этом случае значению </a:t>
            </a:r>
            <a:r>
              <a:rPr lang="ru-RU" dirty="0" err="1"/>
              <a:t>true</a:t>
            </a:r>
            <a:r>
              <a:rPr lang="ru-RU" dirty="0"/>
              <a:t> соответствует 1, а значению </a:t>
            </a:r>
            <a:r>
              <a:rPr lang="ru-RU" dirty="0" err="1"/>
              <a:t>false</a:t>
            </a:r>
            <a:r>
              <a:rPr lang="ru-RU" dirty="0"/>
              <a:t> - 0). При значениях до 8 (включительно) занимает 1 байт, при значениях от 9 до 16 - 2 байта.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TINYINT: хранит числа от 0 до 255. Занимает 1 байт. Хорошо подходит для хранения небольших чисел.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SMALLINT: хранит числа от –32 768 до 32 767. Занимает 2 байта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INT: хранит числа от –2 147 483 648 до 2 147 483 647. Занимает 4 байта. Наиболее используемый тип для хранения чисел.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BIGINT: хранит очень большие числа от -9 223 372 036 854 775 808 до 9 223 372 036 854 775 807, которые занимают в памяти 8 байт.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DECIMAL: хранит числа c фиксированной точностью. Занимает от 5 до 17 байт в зависимости от количества чисел после запятой.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Данный тип может принимать два параметра </a:t>
            </a:r>
            <a:r>
              <a:rPr lang="ru-RU" dirty="0" err="1"/>
              <a:t>precision</a:t>
            </a:r>
            <a:r>
              <a:rPr lang="ru-RU" dirty="0"/>
              <a:t> и </a:t>
            </a:r>
            <a:r>
              <a:rPr lang="ru-RU" dirty="0" err="1"/>
              <a:t>scale</a:t>
            </a:r>
            <a:r>
              <a:rPr lang="ru-RU" dirty="0"/>
              <a:t>: DECIMAL(</a:t>
            </a:r>
            <a:r>
              <a:rPr lang="ru-RU" dirty="0" err="1"/>
              <a:t>precision</a:t>
            </a:r>
            <a:r>
              <a:rPr lang="ru-RU" dirty="0"/>
              <a:t>, </a:t>
            </a:r>
            <a:r>
              <a:rPr lang="ru-RU" dirty="0" err="1"/>
              <a:t>scale</a:t>
            </a:r>
            <a:r>
              <a:rPr lang="ru-RU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Параметр </a:t>
            </a:r>
            <a:r>
              <a:rPr lang="ru-RU" dirty="0" err="1"/>
              <a:t>precision</a:t>
            </a:r>
            <a:r>
              <a:rPr lang="ru-RU" dirty="0"/>
              <a:t> представляет максимальное количество цифр, которые может хранить число. Это значение должно находиться в диапазоне от 1 до 38. По умолчанию оно равно 18.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Параметр </a:t>
            </a:r>
            <a:r>
              <a:rPr lang="ru-RU" dirty="0" err="1"/>
              <a:t>scale</a:t>
            </a:r>
            <a:r>
              <a:rPr lang="ru-RU" dirty="0"/>
              <a:t> представляет максимальное количество цифр, которые может содержать число после запятой. Это значение должно находиться в диапазоне от 0 до значения параметра </a:t>
            </a:r>
            <a:r>
              <a:rPr lang="ru-RU" dirty="0" err="1"/>
              <a:t>precision</a:t>
            </a:r>
            <a:r>
              <a:rPr lang="ru-RU" dirty="0"/>
              <a:t>. По умолчанию оно равно 0.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NUMERIC: данный тип аналогичен типу DECIMAL.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SMALLMONEY: хранит дробные значения от -214 748.3648 до 214 748.3647. Предназначено для хранения денежных величин. Занимает 4 байта. Эквивалентен типу DECIMAL(10,4).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MONEY: хранит дробные значения от -922 337 203 685 477.5808 до 922 337 203 685 477.5807. Представляет денежные величины и занимает 8 байт. Эквивалентен типу DECIMAL(19,4).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FLOAT: хранит числа от –1.79E+308 до 1.79E+308. Занимает от 4 до 8 байт в зависимости от дробной части.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Может иметь форму </a:t>
            </a:r>
            <a:r>
              <a:rPr lang="ru-RU" dirty="0" err="1"/>
              <a:t>опредеения</a:t>
            </a:r>
            <a:r>
              <a:rPr lang="ru-RU" dirty="0"/>
              <a:t> в виде FLOAT(n), где n представляет число бит, которые используются для хранения десятичной части числа (мантиссы). По умолчанию n = 53.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REAL: хранит числа от –340E+38 </a:t>
            </a:r>
            <a:r>
              <a:rPr lang="ru-RU" dirty="0" err="1"/>
              <a:t>to</a:t>
            </a:r>
            <a:r>
              <a:rPr lang="ru-RU" dirty="0"/>
              <a:t> 3.40E+38. Занимает 4 байта. Эквивалентен типу FLOAT(24).</a:t>
            </a:r>
          </a:p>
          <a:p>
            <a:pPr marL="0" indent="0">
              <a:buFont typeface="+mj-lt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9102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CHAR: хранит строку длиной от 1 до 8 000 символов. На каждый символ выделяет по 1 байту. Не подходит для многих языков, так как хранит символы не в кодировке </a:t>
            </a:r>
            <a:r>
              <a:rPr lang="ru-RU" dirty="0" err="1"/>
              <a:t>Unicode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Количество символов, которое может хранить столбец, передается в скобках. Например, для столбца с типом CHAR(10) будет выделено 10 байт. И если мы сохраним в столбце строку менее 10 символов, то она будет дополнена пробелами.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VARCHAR: хранит строку. На каждый символ выделяется 1 байт. Можно указать конкретную длину для столбца - от 1 до 8 000 символов, например, VARCHAR(10). Если строка должна иметь больше 8000 символов, то задается размер MAX, а на хранение строки может выделяться до 2 Гб: VARCHAR(MAX).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Не подходит для многих языков, так как хранит символы не в кодировке </a:t>
            </a:r>
            <a:r>
              <a:rPr lang="ru-RU" dirty="0" err="1"/>
              <a:t>Unicode</a:t>
            </a:r>
            <a:r>
              <a:rPr lang="ru-RU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В отличие от типа CHAR если в столбец с типом VARCHAR(10) будет сохранена строка в 5 символов, то в </a:t>
            </a:r>
            <a:r>
              <a:rPr lang="ru-RU" dirty="0" err="1"/>
              <a:t>столце</a:t>
            </a:r>
            <a:r>
              <a:rPr lang="ru-RU" dirty="0"/>
              <a:t> будет сохранено именно пять символов.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NCHAR: хранит строку в кодировке </a:t>
            </a:r>
            <a:r>
              <a:rPr lang="ru-RU" dirty="0" err="1"/>
              <a:t>Unicode</a:t>
            </a:r>
            <a:r>
              <a:rPr lang="ru-RU" dirty="0"/>
              <a:t> длиной от 1 до 4 000 символов. На каждый символ выделяется 2 байта. Например, NCHAR(15)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NVARCHAR: хранит строку в кодировке </a:t>
            </a:r>
            <a:r>
              <a:rPr lang="ru-RU" dirty="0" err="1"/>
              <a:t>Unicode</a:t>
            </a:r>
            <a:r>
              <a:rPr lang="ru-RU" dirty="0"/>
              <a:t>. На каждый символ выделяется 2 </a:t>
            </a:r>
            <a:r>
              <a:rPr lang="ru-RU" dirty="0" err="1"/>
              <a:t>байта.Можно</a:t>
            </a:r>
            <a:r>
              <a:rPr lang="ru-RU" dirty="0"/>
              <a:t> задать конкретный размер от 1 до 4 000 символов: . Если строка должна иметь больше 4000 символов, то задается размер MAX, а на хранение строки может выделяться до 2 Гб.</a:t>
            </a:r>
          </a:p>
          <a:p>
            <a:endParaRPr lang="en-US" dirty="0"/>
          </a:p>
          <a:p>
            <a:r>
              <a:rPr lang="ru-RU" dirty="0"/>
              <a:t>Еще два типа TEXT и NTEXT являются устаревшими и поэтому их не рекомендуется использовать. Вместо них применяются VARCHAR и NVARCHAR соответственно.</a:t>
            </a:r>
            <a:endParaRPr lang="en-US" dirty="0"/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BINARY: хранит бинарные данные в виде последовательности от 1 до 8 000 байт.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VARBINARY: хранит бинарные данные в виде последовательности от 1 до 8 000 байт, либо до 2^31–1 байт при использовании значения MAX (VARBINARY(MAX)).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UNIQUEIDENTIFIER: уникальный идентификатор GUID (по сути строка с уникальным значением), который занимает 16 байт.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TIMESTAMP: некоторое число, которое хранит номер версии строки в таблице. Занимает 8 байт.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CURSOR: представляет набор строк.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HIERARCHYID: представляет позицию в иерархии.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SQL_VARIANT: может хранить данные любого другого типа данных T-SQL.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XML: хранит документы XML или фрагменты документов XML. Занимает в памяти до 2 Гб.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TABLE: представляет определение таблицы.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GEOGRAPHY: хранит географические данные, такие как широта и долгота.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GEOMETRY: хранит координаты местонахождения на плоскости.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93707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DATE: хранит даты от 0001-01-01 (1 января 0001 года) до 9999-12-31 (31 декабря 9999 года). Занимает 3 байта.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TIME: хранит время в диапазоне от 00:00:00.0000000 до 23:59:59.9999999. Занимает от 3 до 5 байт.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Может иметь форму TIME(n), где n представляет количество цифр от 0 до 7 в дробной части секунд.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DATETIME: хранит даты и время от 01/01/1753 до 31/12/9999. Занимает 8 байт.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DATETIME2: хранит даты и время в диапазоне от 01/01/0001 00:00:00.0000000 до 31/12/9999 23:59:59.9999999. Занимает от 6 до 8 байт в зависимости от точности времени.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Может иметь форму DATETIME2(n), где n представляет количество цифр от 0 до 7 в дробной части секунд.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SMALLDATETIME: хранит даты и время в диапазоне от 01/01/1900 до 06/06/2079, то есть ближайшие даты. Занимает от 4 байта.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DATETIMEOFFSET: хранит даты и время в диапазоне от 0001-01-01 до 9999-12-31. Сохраняет детальную информацию о времени с точностью до 100 наносекунд. Занимает 10 байт.</a:t>
            </a:r>
            <a:endParaRPr lang="en-US" dirty="0"/>
          </a:p>
          <a:p>
            <a:pPr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ru-RU" dirty="0"/>
              <a:t>Распространенные форматы дат: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yyyy</a:t>
            </a:r>
            <a:r>
              <a:rPr lang="en-US" dirty="0"/>
              <a:t>-mm-dd - 2017-07-12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dd/mm/</a:t>
            </a:r>
            <a:r>
              <a:rPr lang="en-US" dirty="0" err="1"/>
              <a:t>yyyy</a:t>
            </a:r>
            <a:r>
              <a:rPr lang="en-US" dirty="0"/>
              <a:t> - 12/07/2017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Month dd, </a:t>
            </a:r>
            <a:r>
              <a:rPr lang="en-US" dirty="0" err="1"/>
              <a:t>yyyy</a:t>
            </a:r>
            <a:r>
              <a:rPr lang="en-US" dirty="0"/>
              <a:t> - July 12, 2017</a:t>
            </a:r>
          </a:p>
          <a:p>
            <a:r>
              <a:rPr lang="ru-RU" dirty="0"/>
              <a:t>Распространенные форматы времени: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hh:mi</a:t>
            </a:r>
            <a:r>
              <a:rPr lang="en-US" dirty="0"/>
              <a:t> - 13:21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hh:mi</a:t>
            </a:r>
            <a:r>
              <a:rPr lang="en-US" dirty="0"/>
              <a:t> am/pm - 1:21 pm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hh:mi:ss</a:t>
            </a:r>
            <a:r>
              <a:rPr lang="en-US" dirty="0"/>
              <a:t> - 1:21:34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hh:mi:ss:mmm</a:t>
            </a:r>
            <a:r>
              <a:rPr lang="en-US" dirty="0"/>
              <a:t> - 1:21:34:12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hh:mi:ss:nnnnnnn</a:t>
            </a:r>
            <a:r>
              <a:rPr lang="en-US" dirty="0"/>
              <a:t> - 1:21:34:1234567</a:t>
            </a:r>
          </a:p>
          <a:p>
            <a:pPr>
              <a:buFont typeface="Arial" panose="020B0604020202020204" pitchFamily="34" charset="0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4702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6356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962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5894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4895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7756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2118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6948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055630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4268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3912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453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5337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9831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2511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9451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8AA7F-5354-B8BF-3E8B-FF945ACAD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4977E5-99BA-FBB7-CE60-04DA2792DB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F382040-4161-60E3-A80F-7C4A6A3F48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2ABE280-7DED-719C-1DB8-07071F34B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77564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6345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013C4-7A26-9989-01AB-9BD9227FB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D429D89-2A97-DB56-4726-404BC8F13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2B3CACF-3870-F6A7-320E-7B92ACFC4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184C4A-CB92-6C7D-4159-DDA9649866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1940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9943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594479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3400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804300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40011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6719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4960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25985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98932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8928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21341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3770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1577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295171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5939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978810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9396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05546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926416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48205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01379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385222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347656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228866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341567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56951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1400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5114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0055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32510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41424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97564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2185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66712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8551454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404835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452780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9136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70996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69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232224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61847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296224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6736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160241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771299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074970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62452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7300150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49095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79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9151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738009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814379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002831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157162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913530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914549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27534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164414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369759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25054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43700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91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651153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800" b="0" i="0" u="none" strike="noStrike" baseline="0" dirty="0">
              <a:latin typeface="Calibri" panose="020F050202020403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F07B36-9F44-47DC-85AE-4ACD687105AD}" type="slidenum">
              <a:rPr lang="ru-RU" smtClean="0"/>
              <a:t>92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487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10582E-FE88-2E72-3A70-FFDB4D1D0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B592964-EC1C-923E-0FCA-F5BAFCED9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882388-C6C4-8314-9F5E-17BD83BBC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6888F0-FC1A-4923-BF8B-86FF19E2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630698-7A36-1711-8B3D-BAF3C4AC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347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FEEE3-5720-E1FF-82AC-AFB022694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F3C663-D353-E204-6E93-4C57762A6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801FCC-BA5A-267F-DDEA-65CDEDB17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7BE5D6-C854-1A77-A064-74140951E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98110E-7435-9AC2-CACF-5B6935075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32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8F975-D043-6835-680F-65561C98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68FB444-44FE-9CB0-6F34-512BC3887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203E76-9663-065E-639C-F7644562B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130338-05F3-0969-EE56-7663EBD7A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34252E-7E3E-EC2C-90BA-5B1C2537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7558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E42A8C-0A7C-D487-B7C5-259960C9B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F2F492-9C02-BC20-191F-59520A101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A2F618-7AD1-858B-0820-08CFD3940C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706CBBA-C35B-1A53-CC13-5184BEB92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052D7E-EC2C-F582-B67B-0FE9EAB41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C01883-05CB-CE88-3218-5F207C279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97565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C07D1-E97F-28E3-289D-68E96CD7C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AFE5B8-EE53-6F52-540E-F5E501BF3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335060-EAF7-E33A-C487-C523805B60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B00111-5756-075F-C121-DA0388A11B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550E25-E523-A6C9-9037-8967EE1B4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84A13D-1C71-42DE-F45E-33DA2900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7B86FC8-6D16-BDD0-E741-22F12650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BF7FBC-05B6-F707-64B0-5707E6A1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933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77D3E8-E2AF-C956-D6D8-3814012D9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48D1163-04A9-F54C-C71C-804A6AA64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779A55-3FCB-6132-65C5-1713903EA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40DF4B6-FDA7-1E7E-DDF8-2DC68041E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795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82D7B1A-9C40-667A-9E9E-92463946C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2DBFE1E-11A7-C36F-1BB1-1E6904229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2A03A7-EABC-92B7-38EF-D801D630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21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F1121D-50C6-7FA8-7FFA-A4801D6A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DF7AB5-EFA8-ECBD-E689-11293A88A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2B79C14-D473-EDF2-8D31-00EFE7A8F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C276BF-7AA0-0296-086D-EFE1E5DBD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EE47A34-190D-E01D-659F-E46ADBB90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F6D4C1-919B-8FFF-DB28-6FAC5FE5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2856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95006D-BDDE-0F1A-9084-C4FFBFFB3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F26453-A91D-CD53-B3B3-216CEF2620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A48ECB-107B-C6F3-AF02-84DFA3BB1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87B274-221A-0883-3569-56ADAB16D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4A7B0E-F91A-EF6A-3987-7D2D19068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DD4135-0531-4CE7-F746-A8CD8557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885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212A6-4FB3-1942-EAD2-7753338BD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721940-DE81-178B-56F7-839AFFF52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39E26A9-F5CB-D1EB-0489-82084626A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6B6CD-2295-A98B-F5F4-F05BB07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5A9341-1A0C-4819-4369-069D6724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01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06C198C-7430-A69A-DC3F-079F99294C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5B00461-E11A-8B06-8FED-12C228513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951FAB-1B87-8812-85BC-0D597C13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62A726C-FFC5-962B-1022-5B335F284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BF90EA-BC1B-44C3-0E00-2EB0EDED3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60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9B001-6445-2617-54D9-21C40B127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FE5304-9A94-C5D6-CD0B-490D76ADE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F00D04-C588-9EB7-65A0-6BFFB20130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A1D17-FB39-46A7-8554-613B9EFB54D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140D96-9093-28BE-CF80-CAC5B8BDA9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B16D665-D8C1-505C-D9B0-F9D75DB3B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95663A-3B94-47A6-848E-354C0D8D57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180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1.wmf"/><Relationship Id="rId4" Type="http://schemas.openxmlformats.org/officeDocument/2006/relationships/oleObject" Target="../embeddings/oleObject1.bin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48668-C913-3446-702E-9FDB42583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7936" y="2235200"/>
            <a:ext cx="9476127" cy="2387600"/>
          </a:xfrm>
        </p:spPr>
        <p:txBody>
          <a:bodyPr anchor="ctr">
            <a:normAutofit/>
          </a:bodyPr>
          <a:lstStyle/>
          <a:p>
            <a:r>
              <a:rPr lang="ru-RU" dirty="0">
                <a:latin typeface="+mn-lt"/>
              </a:rPr>
              <a:t>Структурированный язык запросов</a:t>
            </a:r>
            <a:endParaRPr lang="ru-RU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71742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>
                <a:latin typeface="+mn-lt"/>
              </a:rPr>
              <a:t>SQL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1806705"/>
            <a:ext cx="10704261" cy="481481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3600" dirty="0"/>
              <a:t>SQL</a:t>
            </a:r>
            <a:r>
              <a:rPr lang="en-US" sz="3600" dirty="0"/>
              <a:t> (</a:t>
            </a:r>
            <a:r>
              <a:rPr lang="en-US" sz="3600" i="1" dirty="0"/>
              <a:t>Structured Query Language) – </a:t>
            </a:r>
            <a:r>
              <a:rPr lang="ru-RU" sz="3600" dirty="0"/>
              <a:t>символизирует собой </a:t>
            </a:r>
            <a:r>
              <a:rPr lang="ru-RU" sz="3600" i="1" dirty="0"/>
              <a:t>Структурированный Язык Запросов.</a:t>
            </a:r>
          </a:p>
          <a:p>
            <a:pPr>
              <a:buNone/>
            </a:pPr>
            <a:r>
              <a:rPr lang="ru-RU" sz="3600" i="1" dirty="0"/>
              <a:t> </a:t>
            </a:r>
            <a:r>
              <a:rPr lang="ru-RU" sz="3600" dirty="0"/>
              <a:t>SQL – это язык, который дает Вам возможность создавать и работать в реляционных базах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672404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3648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Состав языка </a:t>
            </a:r>
            <a:r>
              <a:rPr lang="en-US" dirty="0">
                <a:latin typeface="+mn-lt"/>
              </a:rPr>
              <a:t>SQL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1562047"/>
            <a:ext cx="10704261" cy="5129163"/>
          </a:xfrm>
        </p:spPr>
        <p:txBody>
          <a:bodyPr>
            <a:normAutofit/>
          </a:bodyPr>
          <a:lstStyle/>
          <a:p>
            <a:pPr lvl="0"/>
            <a:r>
              <a:rPr lang="ru-RU" sz="3600" dirty="0"/>
              <a:t>DDL – язык определения данных; </a:t>
            </a:r>
          </a:p>
          <a:p>
            <a:pPr lvl="0"/>
            <a:r>
              <a:rPr lang="ru-RU" sz="3600" dirty="0"/>
              <a:t>DML – язык манипулирования данными;</a:t>
            </a:r>
          </a:p>
          <a:p>
            <a:pPr lvl="0"/>
            <a:r>
              <a:rPr lang="ru-RU" sz="3600" dirty="0"/>
              <a:t>DQL – язык запросов;</a:t>
            </a:r>
          </a:p>
          <a:p>
            <a:pPr lvl="0"/>
            <a:r>
              <a:rPr lang="ru-RU" sz="3600" dirty="0"/>
              <a:t>DCL – язык управления данными; </a:t>
            </a:r>
          </a:p>
          <a:p>
            <a:pPr lvl="0"/>
            <a:r>
              <a:rPr lang="ru-RU" sz="3600" dirty="0"/>
              <a:t>команды администрирования данных; </a:t>
            </a:r>
          </a:p>
          <a:p>
            <a:pPr lvl="0"/>
            <a:r>
              <a:rPr lang="ru-RU" sz="3600" dirty="0"/>
              <a:t>команды управления транзакциями</a:t>
            </a:r>
            <a:r>
              <a:rPr lang="en-US" sz="3600" dirty="0"/>
              <a:t>;</a:t>
            </a:r>
            <a:endParaRPr lang="ru-RU" sz="3600" dirty="0"/>
          </a:p>
          <a:p>
            <a:pPr lvl="0"/>
            <a:r>
              <a:rPr lang="ru-RU" sz="3600" dirty="0"/>
              <a:t>процедурный SQL.</a:t>
            </a:r>
          </a:p>
        </p:txBody>
      </p:sp>
    </p:spTree>
    <p:extLst>
      <p:ext uri="{BB962C8B-B14F-4D97-AF65-F5344CB8AC3E}">
        <p14:creationId xmlns:p14="http://schemas.microsoft.com/office/powerpoint/2010/main" val="2080343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2A6B2182-19A4-73E5-2372-83C84D7467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375639"/>
              </p:ext>
            </p:extLst>
          </p:nvPr>
        </p:nvGraphicFramePr>
        <p:xfrm>
          <a:off x="1342294" y="531668"/>
          <a:ext cx="9507412" cy="5794664"/>
        </p:xfrm>
        <a:graphic>
          <a:graphicData uri="http://schemas.openxmlformats.org/drawingml/2006/table">
            <a:tbl>
              <a:tblPr/>
              <a:tblGrid>
                <a:gridCol w="1763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6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6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6596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Команда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Объект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Описание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6596">
                <a:tc gridSpan="3"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DDL (</a:t>
                      </a: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определение данных</a:t>
                      </a: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)</a:t>
                      </a:r>
                      <a:endParaRPr lang="ru-RU" sz="2000" b="1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6596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create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Table (</a:t>
                      </a: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таблица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)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View (</a:t>
                      </a: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представление</a:t>
                      </a: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)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Создание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596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alter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Изменение структуры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1896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drop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Удаление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6596">
                <a:tc gridSpan="3"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DML</a:t>
                      </a: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 (манипулирование данными внутри одного объекта)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596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Insert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60"/>
                        </a:lnSpc>
                      </a:pPr>
                      <a:endParaRPr lang="ru-RU" sz="2000" dirty="0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Вставка одной строки в таблицу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6596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Update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60"/>
                        </a:lnSpc>
                      </a:pPr>
                      <a:endParaRPr lang="ru-RU" sz="2000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Обновление значений таблицы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16596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Delete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60"/>
                        </a:lnSpc>
                      </a:pPr>
                      <a:endParaRPr lang="ru-RU" sz="2000" dirty="0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Удаление кортежа из таблицы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462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ACA919C-47C2-0AC8-76D8-CF906D436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395095"/>
              </p:ext>
            </p:extLst>
          </p:nvPr>
        </p:nvGraphicFramePr>
        <p:xfrm>
          <a:off x="1407829" y="332220"/>
          <a:ext cx="9376342" cy="6193560"/>
        </p:xfrm>
        <a:graphic>
          <a:graphicData uri="http://schemas.openxmlformats.org/drawingml/2006/table">
            <a:tbl>
              <a:tblPr/>
              <a:tblGrid>
                <a:gridCol w="1739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1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882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Команда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Объект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Описание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806">
                <a:tc gridSpan="3"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latin typeface="Times New Roman"/>
                          <a:ea typeface="Times New Roman"/>
                        </a:rPr>
                        <a:t>DQL</a:t>
                      </a: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 (язык запросов к данным – выборка данных в соответствии с критериями)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051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Times New Roman"/>
                        </a:rPr>
                        <a:t>Select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60"/>
                        </a:lnSpc>
                      </a:pPr>
                      <a:endParaRPr lang="ru-RU" sz="2000" dirty="0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Times New Roman"/>
                        </a:rPr>
                        <a:t>Конструирование запросов любой сложности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765">
                <a:tc gridSpan="3"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DCL (язык управления данными – контроль над возможностью доступа к данным внутри БД, назначение пользователю подходящих привилегий – прав - доступа)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11528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</a:rPr>
                        <a:t>Alter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Database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Dbarea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Password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Изменение набора основных объектов и ограничений всей БД</a:t>
                      </a:r>
                    </a:p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Изменение области хранения</a:t>
                      </a:r>
                    </a:p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Изменение пароля для всей БД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882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Create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Database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</a:rPr>
                        <a:t>Dbarea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Times New Roman"/>
                        </a:rPr>
                        <a:t>Создать БД/область хранения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882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Drop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Удалить …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882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Grant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60"/>
                        </a:lnSpc>
                      </a:pPr>
                      <a:endParaRPr lang="ru-RU" sz="2000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Times New Roman"/>
                        </a:rPr>
                        <a:t>Предоставление прав доступа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882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latin typeface="Times New Roman"/>
                          <a:ea typeface="Times New Roman"/>
                        </a:rPr>
                        <a:t>Revoke</a:t>
                      </a:r>
                      <a:endParaRPr lang="ru-RU" sz="200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160"/>
                        </a:lnSpc>
                      </a:pPr>
                      <a:endParaRPr lang="ru-RU" sz="2000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Лишение прав доступа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2346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3C77CE5-EAF0-862E-A985-A0EF06BCF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709516"/>
              </p:ext>
            </p:extLst>
          </p:nvPr>
        </p:nvGraphicFramePr>
        <p:xfrm>
          <a:off x="1327377" y="573574"/>
          <a:ext cx="9537245" cy="5710851"/>
        </p:xfrm>
        <a:graphic>
          <a:graphicData uri="http://schemas.openxmlformats.org/drawingml/2006/table">
            <a:tbl>
              <a:tblPr/>
              <a:tblGrid>
                <a:gridCol w="2206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7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3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904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Команда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Объект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Описание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904">
                <a:tc gridSpan="3"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Команды администрирования БД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904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Start audit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Times New Roman"/>
                        </a:rPr>
                        <a:t>Начало анализа операций внутри БД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1809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Stop audit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Times New Roman"/>
                        </a:rPr>
                        <a:t>Завершение анализа операций внутри БД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904">
                <a:tc gridSpan="3"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Times New Roman"/>
                        </a:rPr>
                        <a:t>Команды управления транзакциями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904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</a:rPr>
                        <a:t>Commit</a:t>
                      </a: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 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Сохранение транзакции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904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 err="1">
                          <a:latin typeface="Times New Roman"/>
                          <a:ea typeface="Times New Roman"/>
                        </a:rPr>
                        <a:t>RollBack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Отмена транзакции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51809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Save point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Создание точки отката внутри групп транзакций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51809"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latin typeface="Times New Roman"/>
                          <a:ea typeface="Times New Roman"/>
                        </a:rPr>
                        <a:t>Set translation</a:t>
                      </a:r>
                      <a:endParaRPr lang="ru-RU" sz="2000" dirty="0">
                        <a:latin typeface="Times New Roman"/>
                        <a:ea typeface="Times New Roman"/>
                      </a:endParaRP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ts val="216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Times New Roman"/>
                        </a:rPr>
                        <a:t>Назначение имени транзакции</a:t>
                      </a:r>
                    </a:p>
                  </a:txBody>
                  <a:tcPr marL="44824" marR="4482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131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48668-C913-3446-702E-9FDB42583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+mn-lt"/>
              </a:rPr>
              <a:t>DDL – </a:t>
            </a:r>
            <a:r>
              <a:rPr lang="ru-RU" dirty="0">
                <a:latin typeface="+mn-lt"/>
              </a:rPr>
              <a:t>язык определения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3691601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B6779-AFDE-E068-424D-C68153F4B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5400" dirty="0">
                <a:latin typeface="+mn-lt"/>
              </a:rPr>
              <a:t>Задача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36224E-EFFD-C8D1-DCDF-7D80AC20A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" indent="0">
              <a:buNone/>
            </a:pPr>
            <a:r>
              <a:rPr lang="ru-RU" sz="2800" dirty="0"/>
              <a:t>Создание таблиц и объектов в базе данных, в которых будет храниться информация о сущностях предметной области.</a:t>
            </a:r>
          </a:p>
          <a:p>
            <a:pPr marL="34290" indent="0">
              <a:buNone/>
            </a:pPr>
            <a:r>
              <a:rPr lang="ru-RU" sz="2800" b="1" dirty="0"/>
              <a:t>Вход: </a:t>
            </a:r>
            <a:r>
              <a:rPr lang="ru-RU" sz="2800" dirty="0"/>
              <a:t>логическая модель базы данных</a:t>
            </a:r>
          </a:p>
          <a:p>
            <a:pPr marL="34290" indent="0">
              <a:buNone/>
            </a:pPr>
            <a:r>
              <a:rPr lang="ru-RU" sz="2800" b="1" dirty="0"/>
              <a:t>Выход: </a:t>
            </a:r>
            <a:r>
              <a:rPr lang="ru-RU" sz="2800" dirty="0"/>
              <a:t>скрипт для создания таблиц на языке определения данных </a:t>
            </a:r>
            <a:r>
              <a:rPr lang="en-US" sz="2800" dirty="0"/>
              <a:t>DDL (Data Definition Language)</a:t>
            </a:r>
            <a:r>
              <a:rPr lang="ru-RU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68892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6787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latin typeface="+mn-lt"/>
              </a:rPr>
              <a:t>Числовые типы данных</a:t>
            </a:r>
            <a:endParaRPr lang="ru-RU" sz="5400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30" y="1294619"/>
            <a:ext cx="11635540" cy="415791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30" y="5604891"/>
            <a:ext cx="7070837" cy="77713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318" y="5604891"/>
            <a:ext cx="3940452" cy="84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2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+mn-lt"/>
              </a:rPr>
              <a:t>Символьные типы данных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63" y="2156354"/>
            <a:ext cx="10678473" cy="230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640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600" b="1" dirty="0">
                <a:latin typeface="+mn-lt"/>
              </a:rPr>
              <a:t>Типы данных, представляющие дату и время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86" y="1924321"/>
            <a:ext cx="11576427" cy="381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759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4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latin typeface="+mn-lt"/>
              </a:rPr>
              <a:t>Создание пользователей/ролей</a:t>
            </a:r>
            <a:endParaRPr lang="ru-RU" sz="54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933" y="1144587"/>
            <a:ext cx="11650133" cy="5628746"/>
          </a:xfrm>
        </p:spPr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CREATE ROLE </a:t>
            </a:r>
            <a:r>
              <a:rPr lang="ru-RU" altLang="ru-RU" sz="3200" dirty="0" err="1"/>
              <a:t>name</a:t>
            </a:r>
            <a:r>
              <a:rPr lang="ru-RU" altLang="ru-RU" sz="3200" dirty="0"/>
              <a:t> [ [ WITH ] </a:t>
            </a:r>
            <a:r>
              <a:rPr lang="ru-RU" altLang="ru-RU" sz="3200" dirty="0" err="1"/>
              <a:t>option</a:t>
            </a:r>
            <a:r>
              <a:rPr lang="ru-RU" altLang="ru-RU" sz="3200" dirty="0"/>
              <a:t> [ ... ] ] </a:t>
            </a:r>
            <a:r>
              <a:rPr lang="ru-RU" altLang="ru-RU" sz="3200" dirty="0" err="1"/>
              <a:t>where</a:t>
            </a:r>
            <a:r>
              <a:rPr lang="ru-RU" altLang="ru-RU" sz="3200" dirty="0"/>
              <a:t> </a:t>
            </a:r>
            <a:r>
              <a:rPr lang="ru-RU" altLang="ru-RU" sz="3200" dirty="0" err="1"/>
              <a:t>option</a:t>
            </a:r>
            <a:r>
              <a:rPr lang="ru-RU" altLang="ru-RU" sz="3200" dirty="0"/>
              <a:t> </a:t>
            </a:r>
            <a:r>
              <a:rPr lang="ru-RU" altLang="ru-RU" sz="3200" dirty="0" err="1"/>
              <a:t>can</a:t>
            </a:r>
            <a:r>
              <a:rPr lang="ru-RU" altLang="ru-RU" sz="3200" dirty="0"/>
              <a:t> </a:t>
            </a:r>
            <a:r>
              <a:rPr lang="ru-RU" altLang="ru-RU" sz="3200" dirty="0" err="1"/>
              <a:t>be</a:t>
            </a:r>
            <a:r>
              <a:rPr lang="ru-RU" altLang="ru-RU" sz="3200" dirty="0"/>
              <a:t>:</a:t>
            </a:r>
            <a:endParaRPr lang="en-US" altLang="ru-RU" sz="32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LOGIN | NOLOGIN | 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SUPERUSER | NOSUPERUSER |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CREATEDB | NOCREATEDB |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CREATEROLE | NOCREATEROLE |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CONNECTION LIMIT </a:t>
            </a:r>
            <a:r>
              <a:rPr lang="ru-RU" altLang="ru-RU" sz="3200" dirty="0" err="1"/>
              <a:t>connlimit</a:t>
            </a:r>
            <a:r>
              <a:rPr lang="ru-RU" altLang="ru-RU" sz="3200" dirty="0"/>
              <a:t> |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[ ENCRYPTED ] PASSWORD '</a:t>
            </a:r>
            <a:r>
              <a:rPr lang="ru-RU" altLang="ru-RU" sz="3200" dirty="0" err="1"/>
              <a:t>password</a:t>
            </a:r>
            <a:r>
              <a:rPr lang="ru-RU" altLang="ru-RU" sz="3200" dirty="0"/>
              <a:t>' | PASSWORD NULL |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VALID UNTIL '</a:t>
            </a:r>
            <a:r>
              <a:rPr lang="ru-RU" altLang="ru-RU" sz="3200" dirty="0" err="1"/>
              <a:t>timestamp</a:t>
            </a:r>
            <a:r>
              <a:rPr lang="ru-RU" altLang="ru-RU" sz="3200" dirty="0"/>
              <a:t>'</a:t>
            </a:r>
            <a:endParaRPr lang="ru-RU" altLang="ru-RU" sz="3200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07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33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latin typeface="+mn-lt"/>
              </a:rPr>
              <a:t>Создание базы данных</a:t>
            </a:r>
            <a:endParaRPr lang="ru-RU" sz="54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3" y="1375306"/>
            <a:ext cx="10056785" cy="1291694"/>
          </a:xfrm>
        </p:spPr>
        <p:txBody>
          <a:bodyPr>
            <a:normAutofit fontScale="40000" lnSpcReduction="20000"/>
          </a:bodyPr>
          <a:lstStyle/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9000" dirty="0"/>
              <a:t>CREATE DATABASE </a:t>
            </a:r>
            <a:r>
              <a:rPr lang="en-US" altLang="ru-RU" sz="9000" dirty="0"/>
              <a:t>name</a:t>
            </a:r>
            <a:r>
              <a:rPr lang="ru-RU" altLang="ru-RU" sz="9000" dirty="0"/>
              <a:t>; </a:t>
            </a:r>
          </a:p>
          <a:p>
            <a:pPr mar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9000" dirty="0"/>
              <a:t>Пример:</a:t>
            </a:r>
          </a:p>
          <a:p>
            <a:pPr marL="0" indent="0">
              <a:buNone/>
            </a:pPr>
            <a:endParaRPr lang="ru-RU" sz="4400" dirty="0">
              <a:solidFill>
                <a:srgbClr val="80808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73DBBF-0C88-E771-3013-632C34B0D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942" y="3060053"/>
            <a:ext cx="8485165" cy="93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477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703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latin typeface="+mn-lt"/>
              </a:rPr>
              <a:t>Удаление базы данных</a:t>
            </a:r>
            <a:endParaRPr lang="ru-RU" sz="5400" dirty="0">
              <a:latin typeface="+mn-lt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2110" y="1280320"/>
            <a:ext cx="10056785" cy="185234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/>
              <a:t>DROP DATABASE [ IF EXISTS ] </a:t>
            </a:r>
            <a:r>
              <a:rPr lang="ru-RU" altLang="ru-RU" sz="3600" dirty="0" err="1"/>
              <a:t>name</a:t>
            </a:r>
            <a:r>
              <a:rPr lang="ru-RU" altLang="ru-RU" sz="3600" dirty="0"/>
              <a:t> [ [ WITH ] ( </a:t>
            </a:r>
            <a:r>
              <a:rPr lang="ru-RU" altLang="ru-RU" sz="3600" dirty="0" err="1"/>
              <a:t>option</a:t>
            </a:r>
            <a:r>
              <a:rPr lang="ru-RU" altLang="ru-RU" sz="3600" dirty="0"/>
              <a:t> [, ...] ) ] </a:t>
            </a:r>
            <a:r>
              <a:rPr lang="ru-RU" altLang="ru-RU" sz="3600" dirty="0" err="1"/>
              <a:t>where</a:t>
            </a:r>
            <a:r>
              <a:rPr lang="ru-RU" altLang="ru-RU" sz="3600" dirty="0"/>
              <a:t> </a:t>
            </a:r>
            <a:r>
              <a:rPr lang="ru-RU" altLang="ru-RU" sz="3600" dirty="0" err="1"/>
              <a:t>option</a:t>
            </a:r>
            <a:r>
              <a:rPr lang="ru-RU" altLang="ru-RU" sz="3600" dirty="0"/>
              <a:t> </a:t>
            </a:r>
            <a:r>
              <a:rPr lang="ru-RU" altLang="ru-RU" sz="3600" dirty="0" err="1"/>
              <a:t>can</a:t>
            </a:r>
            <a:r>
              <a:rPr lang="ru-RU" altLang="ru-RU" sz="3600" dirty="0"/>
              <a:t> </a:t>
            </a:r>
            <a:r>
              <a:rPr lang="ru-RU" altLang="ru-RU" sz="3600" dirty="0" err="1"/>
              <a:t>be</a:t>
            </a:r>
            <a:r>
              <a:rPr lang="ru-RU" altLang="ru-RU" sz="3600" dirty="0"/>
              <a:t>: FORCE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600" dirty="0"/>
              <a:t>Пример:</a:t>
            </a:r>
          </a:p>
          <a:p>
            <a:pPr marL="0" indent="0">
              <a:buNone/>
            </a:pPr>
            <a:endParaRPr lang="ru-RU" sz="4400" dirty="0">
              <a:solidFill>
                <a:srgbClr val="80808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5B2921-5E3F-5026-8498-B7719F4DC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277" y="2966240"/>
            <a:ext cx="8370450" cy="3855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034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6519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+mn-lt"/>
              </a:rPr>
              <a:t>Создание таблицы</a:t>
            </a:r>
            <a:endParaRPr lang="ru-RU" dirty="0">
              <a:latin typeface="+mn-lt"/>
            </a:endParaRP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 txBox="1">
            <a:spLocks/>
          </p:cNvSpPr>
          <p:nvPr/>
        </p:nvSpPr>
        <p:spPr>
          <a:xfrm>
            <a:off x="838200" y="965199"/>
            <a:ext cx="10056785" cy="25933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CREATE TABLE [IF NOT EXISTS] </a:t>
            </a:r>
            <a:r>
              <a:rPr lang="ru-RU" altLang="ru-RU" sz="2400" dirty="0" err="1"/>
              <a:t>table_name</a:t>
            </a:r>
            <a:r>
              <a:rPr lang="en-US" sz="2400" dirty="0"/>
              <a:t>(</a:t>
            </a:r>
            <a:endParaRPr lang="ru-RU" sz="2400" dirty="0"/>
          </a:p>
          <a:p>
            <a:pPr marL="457200" lvl="1" indent="0">
              <a:buNone/>
            </a:pPr>
            <a:r>
              <a:rPr lang="ru-RU" altLang="ru-RU" dirty="0" err="1"/>
              <a:t>column_name</a:t>
            </a:r>
            <a:r>
              <a:rPr lang="ru-RU" altLang="ru-RU" dirty="0"/>
              <a:t> </a:t>
            </a:r>
            <a:r>
              <a:rPr lang="ru-RU" altLang="ru-RU" dirty="0" err="1"/>
              <a:t>data_type</a:t>
            </a:r>
            <a:r>
              <a:rPr lang="ru-RU" altLang="ru-RU" dirty="0"/>
              <a:t> </a:t>
            </a:r>
            <a:r>
              <a:rPr lang="ru-RU" dirty="0"/>
              <a:t> </a:t>
            </a:r>
            <a:r>
              <a:rPr lang="en-US" dirty="0"/>
              <a:t>[,</a:t>
            </a:r>
          </a:p>
          <a:p>
            <a:pPr marL="457200" lvl="1" indent="0">
              <a:buNone/>
            </a:pPr>
            <a:r>
              <a:rPr lang="ru-RU" altLang="ru-RU" dirty="0" err="1"/>
              <a:t>column_name</a:t>
            </a:r>
            <a:r>
              <a:rPr lang="ru-RU" altLang="ru-RU" dirty="0"/>
              <a:t> </a:t>
            </a:r>
            <a:r>
              <a:rPr lang="ru-RU" altLang="ru-RU" dirty="0" err="1"/>
              <a:t>data_type</a:t>
            </a:r>
            <a:r>
              <a:rPr lang="ru-RU" altLang="ru-RU" dirty="0"/>
              <a:t> </a:t>
            </a:r>
            <a:r>
              <a:rPr lang="en-US" dirty="0"/>
              <a:t>] … </a:t>
            </a:r>
            <a:endParaRPr lang="ru-RU" dirty="0"/>
          </a:p>
          <a:p>
            <a:pPr marL="0" indent="0">
              <a:buNone/>
            </a:pPr>
            <a:r>
              <a:rPr lang="ru-RU" sz="2400" dirty="0"/>
              <a:t>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 altLang="ru-RU" sz="2400" dirty="0"/>
              <a:t>Пример: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ru-RU" sz="4400" dirty="0">
              <a:solidFill>
                <a:srgbClr val="808080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105489"/>
            <a:ext cx="21993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1B86FD-2C08-D081-009E-A6001A418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085" y="2914416"/>
            <a:ext cx="7513829" cy="341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67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Создать таблицу </a:t>
            </a:r>
            <a:r>
              <a:rPr lang="en-US" b="1" dirty="0">
                <a:latin typeface="+mn-lt"/>
              </a:rPr>
              <a:t>product</a:t>
            </a:r>
            <a:endParaRPr lang="ru-RU" sz="5400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 id,</a:t>
            </a:r>
            <a:endParaRPr lang="ru-RU" sz="4000" dirty="0"/>
          </a:p>
          <a:p>
            <a:r>
              <a:rPr lang="en-US" sz="4000" dirty="0"/>
              <a:t>name,</a:t>
            </a:r>
          </a:p>
          <a:p>
            <a:r>
              <a:rPr lang="en-US" sz="4000" dirty="0"/>
              <a:t>description,</a:t>
            </a:r>
            <a:endParaRPr lang="ru-RU" sz="4000" dirty="0"/>
          </a:p>
          <a:p>
            <a:r>
              <a:rPr lang="en-US" sz="4000" dirty="0"/>
              <a:t>price,</a:t>
            </a:r>
          </a:p>
          <a:p>
            <a:r>
              <a:rPr lang="en-US" sz="4000" dirty="0"/>
              <a:t>category</a:t>
            </a:r>
            <a:r>
              <a:rPr lang="ru-RU" sz="4000" dirty="0"/>
              <a:t>_</a:t>
            </a:r>
            <a:r>
              <a:rPr lang="en-US" sz="4000" dirty="0"/>
              <a:t>id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18944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Клонирование таблиц</a:t>
            </a:r>
            <a:endParaRPr lang="ru-RU" sz="5400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2763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altLang="ru-RU" sz="2400" dirty="0"/>
              <a:t>Клонирование с данными:</a:t>
            </a:r>
            <a:endParaRPr lang="en-US" altLang="ru-RU" sz="2400" dirty="0"/>
          </a:p>
          <a:p>
            <a:pPr marL="0" indent="0">
              <a:buNone/>
            </a:pPr>
            <a:r>
              <a:rPr lang="ru-RU" altLang="ru-RU" sz="2400" dirty="0"/>
              <a:t>CREATE TABLE </a:t>
            </a:r>
            <a:r>
              <a:rPr lang="ru-RU" altLang="ru-RU" sz="2400" dirty="0" err="1"/>
              <a:t>new_table</a:t>
            </a:r>
            <a:r>
              <a:rPr lang="ru-RU" altLang="ru-RU" sz="2400" dirty="0"/>
              <a:t> AS TABLE </a:t>
            </a:r>
            <a:r>
              <a:rPr lang="ru-RU" altLang="ru-RU" sz="2400" dirty="0" err="1"/>
              <a:t>existing_table</a:t>
            </a:r>
            <a:r>
              <a:rPr lang="ru-RU" altLang="ru-RU" sz="2400" dirty="0"/>
              <a:t>;</a:t>
            </a:r>
          </a:p>
          <a:p>
            <a:pPr marL="0" indent="0">
              <a:buNone/>
            </a:pPr>
            <a:r>
              <a:rPr lang="ru-RU" sz="2400" dirty="0"/>
              <a:t>Клонирование без данных:</a:t>
            </a:r>
            <a:endParaRPr lang="en-US" sz="2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/>
              <a:t>CREATE TABLE </a:t>
            </a:r>
            <a:r>
              <a:rPr lang="ru-RU" altLang="ru-RU" sz="2400" dirty="0" err="1"/>
              <a:t>new_table</a:t>
            </a:r>
            <a:r>
              <a:rPr lang="ru-RU" altLang="ru-RU" sz="2400" dirty="0"/>
              <a:t> AS TABLE </a:t>
            </a:r>
            <a:r>
              <a:rPr lang="ru-RU" altLang="ru-RU" sz="2400" dirty="0" err="1"/>
              <a:t>existing_table</a:t>
            </a:r>
            <a:r>
              <a:rPr lang="ru-RU" altLang="ru-RU" sz="2400" dirty="0"/>
              <a:t> WITH NO DATA;</a:t>
            </a:r>
          </a:p>
          <a:p>
            <a:pPr marL="0" indent="0">
              <a:buNone/>
            </a:pPr>
            <a:r>
              <a:rPr lang="ru-RU" sz="3200" dirty="0"/>
              <a:t>Пример:</a:t>
            </a:r>
          </a:p>
          <a:p>
            <a:pPr marL="0" indent="0">
              <a:buNone/>
            </a:pPr>
            <a:endParaRPr lang="ru-RU" sz="3200" dirty="0">
              <a:solidFill>
                <a:srgbClr val="80808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A6A1F42-B311-9A8C-E80F-280A39F38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54" y="3867807"/>
            <a:ext cx="11898891" cy="141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25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Переименование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272944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Переименование таблицы</a:t>
            </a:r>
            <a:r>
              <a:rPr lang="en-US" sz="2400" dirty="0"/>
              <a:t>:</a:t>
            </a:r>
            <a:endParaRPr lang="ru-RU" sz="2400" dirty="0"/>
          </a:p>
          <a:p>
            <a:pPr marL="0" lvl="0" indent="0" fontAlgn="base">
              <a:lnSpc>
                <a:spcPct val="100000"/>
              </a:lnSpc>
              <a:spcAft>
                <a:spcPct val="0"/>
              </a:spcAft>
              <a:buNone/>
            </a:pPr>
            <a:r>
              <a:rPr lang="ru-RU" altLang="ru-RU" sz="2400" dirty="0"/>
              <a:t>ALTER TABLE </a:t>
            </a:r>
            <a:r>
              <a:rPr lang="ru-RU" altLang="ru-RU" sz="2400" dirty="0" err="1"/>
              <a:t>table_name</a:t>
            </a:r>
            <a:r>
              <a:rPr lang="ru-RU" altLang="ru-RU" sz="2400" dirty="0"/>
              <a:t> RENAME TO </a:t>
            </a:r>
            <a:r>
              <a:rPr lang="ru-RU" altLang="ru-RU" sz="2400" dirty="0" err="1"/>
              <a:t>new_table_name</a:t>
            </a:r>
            <a:r>
              <a:rPr lang="ru-RU" altLang="ru-RU" sz="2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Переименование столбцов таблицы:</a:t>
            </a:r>
          </a:p>
          <a:p>
            <a:pPr marL="0" lvl="0" indent="0" fontAlgn="base">
              <a:lnSpc>
                <a:spcPct val="100000"/>
              </a:lnSpc>
              <a:spcAft>
                <a:spcPct val="0"/>
              </a:spcAft>
              <a:buNone/>
            </a:pPr>
            <a:r>
              <a:rPr lang="ru-RU" altLang="ru-RU" sz="2400" dirty="0"/>
              <a:t>ALTER TABLE </a:t>
            </a:r>
            <a:r>
              <a:rPr lang="ru-RU" altLang="ru-RU" sz="2400" dirty="0" err="1"/>
              <a:t>table_name</a:t>
            </a:r>
            <a:r>
              <a:rPr lang="ru-RU" altLang="ru-RU" sz="2400" dirty="0"/>
              <a:t/>
            </a:r>
            <a:br>
              <a:rPr lang="ru-RU" altLang="ru-RU" sz="2400" dirty="0"/>
            </a:br>
            <a:r>
              <a:rPr lang="ru-RU" altLang="ru-RU" sz="2400" dirty="0"/>
              <a:t>RENAME COLUMN </a:t>
            </a:r>
            <a:r>
              <a:rPr lang="ru-RU" altLang="ru-RU" sz="2400" dirty="0" err="1"/>
              <a:t>old_column_name</a:t>
            </a:r>
            <a:r>
              <a:rPr lang="ru-RU" altLang="ru-RU" sz="2400" dirty="0"/>
              <a:t> TO </a:t>
            </a:r>
            <a:r>
              <a:rPr lang="ru-RU" altLang="ru-RU" sz="2400" dirty="0" err="1"/>
              <a:t>new_column_name</a:t>
            </a:r>
            <a:r>
              <a:rPr lang="ru-RU" altLang="ru-RU" sz="240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2400" dirty="0"/>
              <a:t>Пример: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38CCD6D-F74F-CCF4-D5DD-3AFEFD770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09" y="4251340"/>
            <a:ext cx="10267381" cy="197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084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4015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Добавление столбцов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015"/>
            <a:ext cx="10515600" cy="1736785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/>
              <a:t>LTER TABLE </a:t>
            </a:r>
            <a:r>
              <a:rPr lang="ru-RU" altLang="ru-RU" sz="2400" dirty="0" err="1"/>
              <a:t>table_name</a:t>
            </a:r>
            <a:r>
              <a:rPr lang="ru-RU" altLang="ru-RU" sz="2400" dirty="0"/>
              <a:t/>
            </a:r>
            <a:br>
              <a:rPr lang="ru-RU" altLang="ru-RU" sz="2400" dirty="0"/>
            </a:br>
            <a:r>
              <a:rPr lang="ru-RU" altLang="ru-RU" sz="2400" dirty="0"/>
              <a:t>ADD COLUMN IF NOT EXISTS </a:t>
            </a:r>
            <a:r>
              <a:rPr lang="ru-RU" altLang="ru-RU" sz="2400" dirty="0" err="1"/>
              <a:t>column_name</a:t>
            </a:r>
            <a:r>
              <a:rPr lang="ru-RU" altLang="ru-RU" sz="2400" dirty="0"/>
              <a:t> </a:t>
            </a:r>
            <a:r>
              <a:rPr lang="ru-RU" altLang="ru-RU" sz="2400" dirty="0" err="1"/>
              <a:t>data_type</a:t>
            </a:r>
            <a:r>
              <a:rPr lang="ru-RU" altLang="ru-RU" sz="2400" dirty="0"/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/>
              <a:t>[</a:t>
            </a:r>
            <a:r>
              <a:rPr lang="ru-RU" altLang="ru-RU" sz="2400" dirty="0" err="1"/>
              <a:t>column_constraint</a:t>
            </a:r>
            <a:r>
              <a:rPr lang="ru-RU" altLang="ru-RU" sz="2400" dirty="0"/>
              <a:t> [ ... ]]; </a:t>
            </a:r>
          </a:p>
          <a:p>
            <a:pPr marL="0" indent="0">
              <a:buNone/>
            </a:pPr>
            <a:r>
              <a:rPr lang="ru-RU" sz="2400" dirty="0"/>
              <a:t>Пример: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905BA74-6A29-3BA5-4F87-424F534A3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715" y="3000639"/>
            <a:ext cx="9530570" cy="121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133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8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Изменение типа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249593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/>
              <a:t>ALTER TABLE </a:t>
            </a:r>
            <a:r>
              <a:rPr lang="ru-RU" altLang="ru-RU" sz="2400" dirty="0" err="1"/>
              <a:t>table_name</a:t>
            </a:r>
            <a:r>
              <a:rPr lang="ru-RU" altLang="ru-RU" sz="2400" dirty="0"/>
              <a:t/>
            </a:r>
            <a:br>
              <a:rPr lang="ru-RU" altLang="ru-RU" sz="2400" dirty="0"/>
            </a:br>
            <a:r>
              <a:rPr lang="ru-RU" altLang="ru-RU" sz="2400" dirty="0"/>
              <a:t>ALTER COLUMN </a:t>
            </a:r>
            <a:r>
              <a:rPr lang="ru-RU" altLang="ru-RU" sz="2400" dirty="0" err="1"/>
              <a:t>column_name</a:t>
            </a:r>
            <a:r>
              <a:rPr lang="ru-RU" altLang="ru-RU" sz="2400" dirty="0"/>
              <a:t> TYPE </a:t>
            </a:r>
            <a:r>
              <a:rPr lang="ru-RU" altLang="ru-RU" sz="2400" dirty="0" err="1"/>
              <a:t>new_data_type</a:t>
            </a:r>
            <a:r>
              <a:rPr lang="ru-RU" altLang="ru-RU" sz="2400" dirty="0"/>
              <a:t>;</a:t>
            </a:r>
          </a:p>
          <a:p>
            <a:pPr marL="0" indent="0">
              <a:buNone/>
            </a:pPr>
            <a:r>
              <a:rPr lang="ru-RU" sz="3200" dirty="0">
                <a:solidFill>
                  <a:srgbClr val="000000"/>
                </a:solidFill>
              </a:rPr>
              <a:t>Пример: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86395A-C40F-D0B0-A247-1ADB6238B2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028" y="3119207"/>
            <a:ext cx="9083921" cy="1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513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Удаление столбцов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2823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Синтаксис: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2400" dirty="0"/>
              <a:t>A</a:t>
            </a:r>
            <a:r>
              <a:rPr lang="ru-RU" altLang="ru-RU" sz="2400" dirty="0"/>
              <a:t>LTER TABLE </a:t>
            </a:r>
            <a:r>
              <a:rPr lang="ru-RU" altLang="ru-RU" sz="2400" dirty="0" err="1"/>
              <a:t>table_name</a:t>
            </a:r>
            <a:r>
              <a:rPr lang="ru-RU" altLang="ru-RU" sz="2400" dirty="0"/>
              <a:t/>
            </a:r>
            <a:br>
              <a:rPr lang="ru-RU" altLang="ru-RU" sz="2400" dirty="0"/>
            </a:br>
            <a:r>
              <a:rPr lang="ru-RU" altLang="ru-RU" sz="2400" dirty="0"/>
              <a:t>DROP COLUMN IF EXISTS </a:t>
            </a:r>
            <a:r>
              <a:rPr lang="ru-RU" altLang="ru-RU" sz="2400" dirty="0" err="1"/>
              <a:t>column_name</a:t>
            </a:r>
            <a:r>
              <a:rPr lang="ru-RU" altLang="ru-RU" sz="2400" dirty="0"/>
              <a:t>; </a:t>
            </a:r>
          </a:p>
          <a:p>
            <a:pPr marL="0" indent="0">
              <a:buNone/>
            </a:pPr>
            <a:r>
              <a:rPr lang="ru-RU" sz="2400" dirty="0"/>
              <a:t>Пример: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844D01-B0D7-DBE5-0CAD-35666E320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069" y="3321251"/>
            <a:ext cx="9079861" cy="1487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7521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Удаление таблиц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170258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/>
              <a:t>DROP TABLE IF EXISTS </a:t>
            </a:r>
            <a:r>
              <a:rPr lang="ru-RU" altLang="ru-RU" sz="2400" dirty="0" err="1"/>
              <a:t>table_name</a:t>
            </a:r>
            <a:r>
              <a:rPr lang="ru-RU" altLang="ru-RU" sz="2400" dirty="0"/>
              <a:t>;</a:t>
            </a:r>
          </a:p>
          <a:p>
            <a:pPr marL="0" indent="0">
              <a:buNone/>
            </a:pPr>
            <a:r>
              <a:rPr lang="ru-RU" sz="2400" dirty="0"/>
              <a:t>Пример: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EC0D615-397A-E05F-33A1-441C1B1B8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873" y="2651126"/>
            <a:ext cx="8792253" cy="1477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58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48668-C913-3446-702E-9FDB42583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7936" y="2235200"/>
            <a:ext cx="9476127" cy="2387600"/>
          </a:xfrm>
        </p:spPr>
        <p:txBody>
          <a:bodyPr anchor="ctr">
            <a:normAutofit/>
          </a:bodyPr>
          <a:lstStyle/>
          <a:p>
            <a:r>
              <a:rPr lang="ru-RU" b="1" dirty="0">
                <a:latin typeface="+mn-lt"/>
              </a:rPr>
              <a:t>Ограничения целостности</a:t>
            </a:r>
          </a:p>
        </p:txBody>
      </p:sp>
    </p:spTree>
    <p:extLst>
      <p:ext uri="{BB962C8B-B14F-4D97-AF65-F5344CB8AC3E}">
        <p14:creationId xmlns:p14="http://schemas.microsoft.com/office/powerpoint/2010/main" val="7408894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Типы ограничений целостности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481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 dirty="0"/>
              <a:t>PRIMARY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[NOT] NULL</a:t>
            </a:r>
            <a:endParaRPr lang="ru-RU" sz="3200" dirty="0"/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DEFAULT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UNIQUE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FOREIGN KEY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/>
              <a:t>CHECK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3222881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Ограничение на отсутствие значений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8" y="1325563"/>
            <a:ext cx="10704261" cy="2475969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 err="1"/>
              <a:t>column_name</a:t>
            </a:r>
            <a:r>
              <a:rPr lang="ru-RU" altLang="ru-RU" sz="3000" dirty="0"/>
              <a:t> </a:t>
            </a:r>
            <a:r>
              <a:rPr lang="ru-RU" altLang="ru-RU" sz="3000" dirty="0" err="1"/>
              <a:t>data_type</a:t>
            </a:r>
            <a:r>
              <a:rPr lang="ru-RU" altLang="ru-RU" sz="3000" dirty="0"/>
              <a:t> </a:t>
            </a:r>
            <a:r>
              <a:rPr lang="en-US" altLang="ru-RU" sz="3000" dirty="0"/>
              <a:t>[</a:t>
            </a:r>
            <a:r>
              <a:rPr lang="ru-RU" altLang="ru-RU" sz="3000" dirty="0"/>
              <a:t>NOT</a:t>
            </a:r>
            <a:r>
              <a:rPr lang="en-US" altLang="ru-RU" sz="3000" dirty="0"/>
              <a:t>]</a:t>
            </a:r>
            <a:r>
              <a:rPr lang="ru-RU" altLang="ru-RU" sz="3000" dirty="0"/>
              <a:t> NULL</a:t>
            </a:r>
            <a:endParaRPr lang="en-US" altLang="ru-RU" sz="3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000" dirty="0"/>
              <a:t>ALTER TABLE </a:t>
            </a:r>
            <a:r>
              <a:rPr lang="ru-RU" altLang="ru-RU" sz="3000" dirty="0" err="1"/>
              <a:t>table_name</a:t>
            </a:r>
            <a:r>
              <a:rPr lang="ru-RU" altLang="ru-RU" sz="3000" dirty="0"/>
              <a:t> ALTER COLUMN </a:t>
            </a:r>
            <a:r>
              <a:rPr lang="ru-RU" altLang="ru-RU" sz="3000" dirty="0" err="1"/>
              <a:t>column_name</a:t>
            </a:r>
            <a:r>
              <a:rPr lang="ru-RU" altLang="ru-RU" sz="3000" dirty="0"/>
              <a:t> SET </a:t>
            </a:r>
            <a:r>
              <a:rPr lang="en-US" altLang="ru-RU" sz="3000" dirty="0"/>
              <a:t>[</a:t>
            </a:r>
            <a:r>
              <a:rPr lang="ru-RU" altLang="ru-RU" sz="3000" dirty="0"/>
              <a:t>NOT</a:t>
            </a:r>
            <a:r>
              <a:rPr lang="en-US" altLang="ru-RU" sz="3000" dirty="0"/>
              <a:t>]</a:t>
            </a:r>
            <a:r>
              <a:rPr lang="ru-RU" altLang="ru-RU" sz="3000" dirty="0"/>
              <a:t> NULL;</a:t>
            </a:r>
            <a:endParaRPr lang="en-US" altLang="ru-RU" sz="30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sz="3200" dirty="0"/>
              <a:t>Примеры: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BAE3B10-B23A-6D34-BC48-1F7F72F6B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914" y="2460737"/>
            <a:ext cx="6438105" cy="413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6453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224951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Определение значений по умолчанию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8" y="1224950"/>
            <a:ext cx="10704261" cy="3118449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 err="1"/>
              <a:t>column_name</a:t>
            </a:r>
            <a:r>
              <a:rPr lang="ru-RU" altLang="ru-RU" sz="3200" dirty="0"/>
              <a:t> </a:t>
            </a:r>
            <a:r>
              <a:rPr lang="ru-RU" altLang="ru-RU" sz="3200" dirty="0" err="1"/>
              <a:t>data_type</a:t>
            </a:r>
            <a:r>
              <a:rPr lang="ru-RU" altLang="ru-RU" sz="3200" dirty="0"/>
              <a:t> </a:t>
            </a:r>
            <a:r>
              <a:rPr lang="en-US" altLang="ru-RU" sz="3200" dirty="0"/>
              <a:t>DEFAULT </a:t>
            </a:r>
            <a:r>
              <a:rPr lang="en-US" altLang="ru-RU" sz="3200" dirty="0" err="1"/>
              <a:t>default_value</a:t>
            </a:r>
            <a:endParaRPr lang="en-US" altLang="ru-RU" sz="32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ru-RU" sz="32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ALTER TABLE </a:t>
            </a:r>
            <a:r>
              <a:rPr lang="ru-RU" altLang="ru-RU" sz="3200" dirty="0" err="1"/>
              <a:t>table_name</a:t>
            </a:r>
            <a:r>
              <a:rPr lang="ru-RU" altLang="ru-RU" sz="3200" dirty="0"/>
              <a:t/>
            </a:r>
            <a:br>
              <a:rPr lang="ru-RU" altLang="ru-RU" sz="3200" dirty="0"/>
            </a:br>
            <a:r>
              <a:rPr lang="ru-RU" altLang="ru-RU" sz="3200" dirty="0"/>
              <a:t>ALTER COLUMN </a:t>
            </a:r>
            <a:r>
              <a:rPr lang="ru-RU" altLang="ru-RU" sz="3200" dirty="0" err="1"/>
              <a:t>column_name</a:t>
            </a:r>
            <a:r>
              <a:rPr lang="ru-RU" altLang="ru-RU" sz="3200" dirty="0"/>
              <a:t> SET DEFAULT </a:t>
            </a:r>
            <a:r>
              <a:rPr lang="en-US" altLang="ru-RU" sz="3200" dirty="0" err="1"/>
              <a:t>default_value</a:t>
            </a:r>
            <a:r>
              <a:rPr lang="ru-RU" altLang="ru-RU" sz="3200" dirty="0"/>
              <a:t>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ru-RU" sz="3200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/>
              <a:t>ALTER TABLE </a:t>
            </a:r>
            <a:r>
              <a:rPr lang="ru-RU" altLang="ru-RU" sz="3200" dirty="0" err="1"/>
              <a:t>table_name</a:t>
            </a:r>
            <a:r>
              <a:rPr lang="ru-RU" altLang="ru-RU" sz="3200" dirty="0"/>
              <a:t/>
            </a:r>
            <a:br>
              <a:rPr lang="ru-RU" altLang="ru-RU" sz="3200" dirty="0"/>
            </a:br>
            <a:r>
              <a:rPr lang="ru-RU" altLang="ru-RU" sz="3200" dirty="0"/>
              <a:t>ALTER COLUMN </a:t>
            </a:r>
            <a:r>
              <a:rPr lang="ru-RU" altLang="ru-RU" sz="3200" dirty="0" err="1"/>
              <a:t>column_name</a:t>
            </a:r>
            <a:r>
              <a:rPr lang="ru-RU" altLang="ru-RU" sz="3200" dirty="0"/>
              <a:t> </a:t>
            </a:r>
            <a:r>
              <a:rPr lang="en-US" altLang="ru-RU" sz="3200" dirty="0"/>
              <a:t>DROP</a:t>
            </a:r>
            <a:r>
              <a:rPr lang="ru-RU" altLang="ru-RU" sz="3200" dirty="0"/>
              <a:t> DEFAULT;</a:t>
            </a:r>
          </a:p>
        </p:txBody>
      </p:sp>
    </p:spTree>
    <p:extLst>
      <p:ext uri="{BB962C8B-B14F-4D97-AF65-F5344CB8AC3E}">
        <p14:creationId xmlns:p14="http://schemas.microsoft.com/office/powerpoint/2010/main" val="1304040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BD48B-0F8D-64F3-A7F1-427611D92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CE40A-80A1-EC45-158B-EB14BB975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224951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Определение значений по умолчанию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BC73CD-D7B8-6CC2-A044-D5C7E820E2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51" y="1346135"/>
            <a:ext cx="8706297" cy="473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094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Ограничение уникальности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38" y="1325564"/>
            <a:ext cx="10704261" cy="141348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 err="1"/>
              <a:t>column_name</a:t>
            </a:r>
            <a:r>
              <a:rPr lang="ru-RU" altLang="ru-RU" sz="3200" dirty="0"/>
              <a:t> </a:t>
            </a:r>
            <a:r>
              <a:rPr lang="ru-RU" altLang="ru-RU" sz="3200" dirty="0" err="1"/>
              <a:t>data_type</a:t>
            </a:r>
            <a:r>
              <a:rPr lang="ru-RU" altLang="ru-RU" sz="3200" dirty="0"/>
              <a:t> </a:t>
            </a:r>
            <a:r>
              <a:rPr lang="en-US" altLang="ru-RU" sz="3200" dirty="0"/>
              <a:t>UNIQUE;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3200" dirty="0" err="1"/>
              <a:t>column_name</a:t>
            </a:r>
            <a:r>
              <a:rPr lang="ru-RU" altLang="ru-RU" sz="3200" dirty="0"/>
              <a:t> </a:t>
            </a:r>
            <a:r>
              <a:rPr lang="ru-RU" altLang="ru-RU" sz="3200" dirty="0" err="1"/>
              <a:t>data_type</a:t>
            </a:r>
            <a:r>
              <a:rPr lang="ru-RU" altLang="ru-RU" sz="3200" dirty="0"/>
              <a:t> </a:t>
            </a:r>
            <a:r>
              <a:rPr lang="en-US" altLang="ru-RU" sz="3200" dirty="0"/>
              <a:t>UNIQUE </a:t>
            </a:r>
            <a:r>
              <a:rPr lang="en-US" dirty="0"/>
              <a:t>NULLS NOT DISTINCT</a:t>
            </a:r>
            <a:r>
              <a:rPr lang="en-US" altLang="ru-RU" sz="3200" dirty="0"/>
              <a:t>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ru-RU" sz="3200" dirty="0"/>
          </a:p>
        </p:txBody>
      </p:sp>
    </p:spTree>
    <p:extLst>
      <p:ext uri="{BB962C8B-B14F-4D97-AF65-F5344CB8AC3E}">
        <p14:creationId xmlns:p14="http://schemas.microsoft.com/office/powerpoint/2010/main" val="586637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ED1E3-90DC-A9BA-71F0-79E5C0023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102A32-D177-8E16-D8A8-08878F837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Ограничение уникальности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0D746E8-4386-75F0-F4DA-E07D321D0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14" y="1382848"/>
            <a:ext cx="9182572" cy="480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72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Свойства первичного ключа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14811"/>
          </a:xfrm>
        </p:spPr>
        <p:txBody>
          <a:bodyPr>
            <a:normAutofit/>
          </a:bodyPr>
          <a:lstStyle/>
          <a:p>
            <a:r>
              <a:rPr lang="ru-RU" sz="3200" dirty="0"/>
              <a:t>отношение (таблица) может иметь только один первичный ключ;</a:t>
            </a:r>
          </a:p>
          <a:p>
            <a:r>
              <a:rPr lang="ru-RU" sz="3200" dirty="0"/>
              <a:t>первичный ключ должен быть уникальным;</a:t>
            </a:r>
          </a:p>
          <a:p>
            <a:r>
              <a:rPr lang="ru-RU" sz="3200" dirty="0"/>
              <a:t>первичный ключ должен быть минимальным, т.е. включать минимальное число атрибутов, необходимых для однозначной идентификации кортежа;</a:t>
            </a:r>
          </a:p>
          <a:p>
            <a:r>
              <a:rPr lang="ru-RU" sz="3200" dirty="0"/>
              <a:t>первичный ключ не может содержать </a:t>
            </a:r>
            <a:r>
              <a:rPr lang="en-US" sz="3200" dirty="0"/>
              <a:t>NULL</a:t>
            </a:r>
            <a:r>
              <a:rPr lang="ru-RU" sz="3200" dirty="0"/>
              <a:t> значений;</a:t>
            </a:r>
          </a:p>
          <a:p>
            <a:r>
              <a:rPr lang="ru-RU" sz="3200" dirty="0"/>
              <a:t>значение первичного ключа не должно меняться при смене состояний базы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9652246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Ограничения первичных ключей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0" y="1402931"/>
            <a:ext cx="10591800" cy="642000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ru-RU" altLang="ru-RU" sz="3200" dirty="0" err="1"/>
              <a:t>column_name</a:t>
            </a:r>
            <a:r>
              <a:rPr lang="ru-RU" altLang="ru-RU" sz="3200" dirty="0"/>
              <a:t> </a:t>
            </a:r>
            <a:r>
              <a:rPr lang="ru-RU" altLang="ru-RU" sz="3200" dirty="0" err="1"/>
              <a:t>data_type</a:t>
            </a:r>
            <a:r>
              <a:rPr lang="en-US" altLang="ru-RU" sz="3200" dirty="0"/>
              <a:t> PRIMARY KEY</a:t>
            </a:r>
            <a:r>
              <a:rPr lang="en-US" sz="3200" dirty="0"/>
              <a:t>;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B938DA-7C01-C2F1-93BF-0C35D1C66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963" y="1890804"/>
            <a:ext cx="4339659" cy="49671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D25F27-AD2F-198A-6331-91ABD99288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819" y="3063876"/>
            <a:ext cx="7264385" cy="190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1017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Свойства внешних ключей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1806705"/>
            <a:ext cx="10704261" cy="4814811"/>
          </a:xfrm>
        </p:spPr>
        <p:txBody>
          <a:bodyPr>
            <a:normAutofit/>
          </a:bodyPr>
          <a:lstStyle/>
          <a:p>
            <a:r>
              <a:rPr lang="ru-RU" sz="3200" dirty="0"/>
              <a:t>Внешний ключ должен содержать такое же число колонок, такого же типа и в том же порядке следования, что и соответствующий первичный ключ.</a:t>
            </a:r>
          </a:p>
          <a:p>
            <a:r>
              <a:rPr lang="ru-RU" sz="3200" dirty="0"/>
              <a:t>Имена колонок внешнего ключа и их значения по умолчанию могут отличаться от используемых в соответствующем первичном ключе (в том числе иметь </a:t>
            </a:r>
            <a:r>
              <a:rPr lang="en-US" sz="3200" dirty="0"/>
              <a:t>NULL</a:t>
            </a:r>
            <a:r>
              <a:rPr lang="ru-RU" sz="3200" dirty="0"/>
              <a:t>-значения).</a:t>
            </a:r>
          </a:p>
          <a:p>
            <a:r>
              <a:rPr lang="ru-RU" sz="3200" dirty="0"/>
              <a:t>Таблица может иметь любое число внешних ключей.</a:t>
            </a:r>
          </a:p>
        </p:txBody>
      </p:sp>
    </p:spTree>
    <p:extLst>
      <p:ext uri="{BB962C8B-B14F-4D97-AF65-F5344CB8AC3E}">
        <p14:creationId xmlns:p14="http://schemas.microsoft.com/office/powerpoint/2010/main" val="238159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4731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Ограничения внешних ключей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313"/>
            <a:ext cx="10515600" cy="1590436"/>
          </a:xfrm>
        </p:spPr>
        <p:txBody>
          <a:bodyPr>
            <a:normAutofit/>
          </a:bodyPr>
          <a:lstStyle/>
          <a:p>
            <a:pPr marL="34290" indent="0">
              <a:buNone/>
            </a:pPr>
            <a:r>
              <a:rPr lang="ru-RU" altLang="ru-RU" sz="3200" dirty="0" err="1"/>
              <a:t>column_name</a:t>
            </a:r>
            <a:r>
              <a:rPr lang="ru-RU" altLang="ru-RU" sz="3200" dirty="0"/>
              <a:t> </a:t>
            </a:r>
            <a:r>
              <a:rPr lang="ru-RU" altLang="ru-RU" sz="3200" dirty="0" err="1"/>
              <a:t>data_type</a:t>
            </a:r>
            <a:r>
              <a:rPr lang="en-US" altLang="ru-RU" sz="3200" dirty="0"/>
              <a:t> REFRERENCES  </a:t>
            </a:r>
            <a:r>
              <a:rPr lang="en-US" altLang="ru-RU" sz="3200" dirty="0" err="1"/>
              <a:t>table_name</a:t>
            </a:r>
            <a:r>
              <a:rPr lang="en-US" altLang="ru-RU" sz="3200" dirty="0"/>
              <a:t>(</a:t>
            </a:r>
            <a:r>
              <a:rPr lang="en-US" altLang="ru-RU" sz="3200" dirty="0" err="1"/>
              <a:t>column_name</a:t>
            </a:r>
            <a:r>
              <a:rPr lang="en-US" altLang="ru-RU" sz="3200" dirty="0"/>
              <a:t>)</a:t>
            </a:r>
            <a:r>
              <a:rPr lang="en-US" sz="3200" dirty="0"/>
              <a:t>;</a:t>
            </a:r>
          </a:p>
          <a:p>
            <a:pPr marL="34290" indent="0">
              <a:buNone/>
            </a:pPr>
            <a:endParaRPr lang="en-US" sz="32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28353C-684A-FAE3-7157-29BD07580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875" y="2198728"/>
            <a:ext cx="5973136" cy="462186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5644470-808E-CF62-045E-3E05F6DFF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1837" y="3789164"/>
            <a:ext cx="7808312" cy="99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239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116623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Ограничение на значение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8" y="1116623"/>
            <a:ext cx="10704261" cy="1116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altLang="ru-RU" sz="3200" dirty="0" err="1"/>
              <a:t>column_name</a:t>
            </a:r>
            <a:r>
              <a:rPr lang="ru-RU" altLang="ru-RU" sz="3200" dirty="0"/>
              <a:t> </a:t>
            </a:r>
            <a:r>
              <a:rPr lang="ru-RU" altLang="ru-RU" sz="3200" dirty="0" err="1"/>
              <a:t>data_type</a:t>
            </a:r>
            <a:r>
              <a:rPr lang="ru-RU" sz="3200" dirty="0"/>
              <a:t> </a:t>
            </a:r>
            <a:r>
              <a:rPr lang="en-US" sz="3200" dirty="0"/>
              <a:t>CHECK (condition);</a:t>
            </a:r>
            <a:endParaRPr lang="ru-RU" sz="3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534BFF5-CCF7-CB4F-E26B-B3B41FB21B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38" y="1857747"/>
            <a:ext cx="11341320" cy="4268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211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949569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Удаление ограничений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8" y="1032983"/>
            <a:ext cx="10704261" cy="175418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sz="3200" dirty="0"/>
              <a:t>A</a:t>
            </a:r>
            <a:r>
              <a:rPr lang="ru-RU" altLang="ru-RU" sz="3200" dirty="0"/>
              <a:t>LTER TABLE </a:t>
            </a:r>
            <a:r>
              <a:rPr lang="ru-RU" altLang="ru-RU" sz="3200" dirty="0" err="1"/>
              <a:t>table_name</a:t>
            </a:r>
            <a:r>
              <a:rPr lang="ru-RU" altLang="ru-RU" sz="3200" dirty="0"/>
              <a:t/>
            </a:r>
            <a:br>
              <a:rPr lang="ru-RU" altLang="ru-RU" sz="3200" dirty="0"/>
            </a:br>
            <a:r>
              <a:rPr lang="ru-RU" altLang="ru-RU" sz="3200" dirty="0"/>
              <a:t>DROP CONSTRAINT IF EXISTS </a:t>
            </a:r>
            <a:r>
              <a:rPr lang="ru-RU" altLang="ru-RU" sz="3200" dirty="0" err="1"/>
              <a:t>constraint_name</a:t>
            </a:r>
            <a:r>
              <a:rPr lang="ru-RU" altLang="ru-RU" sz="3200" dirty="0"/>
              <a:t>; </a:t>
            </a:r>
          </a:p>
          <a:p>
            <a:pPr marL="0" indent="0">
              <a:buNone/>
            </a:pPr>
            <a:r>
              <a:rPr lang="ru-RU" sz="3200" dirty="0"/>
              <a:t>Пример: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A4E711-95D1-B9E0-160B-0D8BFDECD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328" y="2832305"/>
            <a:ext cx="9595343" cy="1022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93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48668-C913-3446-702E-9FDB42583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ru-RU" sz="6000" dirty="0">
                <a:latin typeface="+mn-lt"/>
              </a:rPr>
              <a:t>DML – язык манипулирования данными</a:t>
            </a:r>
            <a:endParaRPr lang="ru-RU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71068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Вставка новых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7" y="812219"/>
            <a:ext cx="10704261" cy="27814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 smtClean="0"/>
              <a:t>INSERT</a:t>
            </a:r>
            <a:r>
              <a:rPr lang="en-US" sz="2400" dirty="0" smtClean="0"/>
              <a:t> INTO</a:t>
            </a:r>
            <a:r>
              <a:rPr lang="ru-RU" sz="2400" dirty="0" smtClean="0"/>
              <a:t> </a:t>
            </a:r>
            <a:r>
              <a:rPr lang="en-US" sz="2400" dirty="0" err="1" smtClean="0"/>
              <a:t>table_name</a:t>
            </a:r>
            <a:r>
              <a:rPr lang="ru-RU" sz="2400" dirty="0" smtClean="0"/>
              <a:t>(</a:t>
            </a:r>
            <a:r>
              <a:rPr lang="en-US" sz="2400" dirty="0" err="1" smtClean="0"/>
              <a:t>column_name</a:t>
            </a:r>
            <a:r>
              <a:rPr lang="en-US" sz="2400" dirty="0" smtClean="0"/>
              <a:t>, </a:t>
            </a:r>
            <a:r>
              <a:rPr lang="en-US" sz="2400" dirty="0" err="1" smtClean="0"/>
              <a:t>column_name</a:t>
            </a:r>
            <a:r>
              <a:rPr lang="en-US" sz="2400" dirty="0" smtClean="0"/>
              <a:t>, …</a:t>
            </a:r>
            <a:r>
              <a:rPr lang="ru-RU" sz="2400" dirty="0" smtClean="0"/>
              <a:t>) </a:t>
            </a:r>
            <a:r>
              <a:rPr lang="ru-RU" sz="2400" dirty="0"/>
              <a:t>VALUES</a:t>
            </a:r>
          </a:p>
          <a:p>
            <a:pPr marL="0" indent="0">
              <a:buNone/>
            </a:pPr>
            <a:r>
              <a:rPr lang="ru-RU" sz="2400" dirty="0" smtClean="0"/>
              <a:t>(</a:t>
            </a:r>
            <a:r>
              <a:rPr lang="en-US" sz="2400" dirty="0" smtClean="0"/>
              <a:t>value_1, value_2, …</a:t>
            </a:r>
            <a:r>
              <a:rPr lang="ru-RU" sz="2400" dirty="0" smtClean="0"/>
              <a:t>),</a:t>
            </a:r>
            <a:endParaRPr lang="ru-RU" sz="2400" dirty="0"/>
          </a:p>
          <a:p>
            <a:pPr marL="0" indent="0">
              <a:buNone/>
            </a:pPr>
            <a:r>
              <a:rPr lang="ru-RU" sz="2400" dirty="0" smtClean="0"/>
              <a:t>(</a:t>
            </a:r>
            <a:r>
              <a:rPr lang="en-US" sz="2400" dirty="0" smtClean="0"/>
              <a:t>value_3, value_4, </a:t>
            </a:r>
            <a:r>
              <a:rPr lang="en-US" sz="2400" dirty="0"/>
              <a:t>…</a:t>
            </a:r>
            <a:r>
              <a:rPr lang="ru-RU" sz="2400" dirty="0" smtClean="0"/>
              <a:t>),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…</a:t>
            </a:r>
          </a:p>
          <a:p>
            <a:pPr marL="0" indent="0">
              <a:buNone/>
            </a:pPr>
            <a:r>
              <a:rPr lang="ru-RU" sz="2400" dirty="0" smtClean="0"/>
              <a:t>(</a:t>
            </a:r>
            <a:r>
              <a:rPr lang="en-US" sz="2400" dirty="0" smtClean="0"/>
              <a:t>value_n-1, </a:t>
            </a:r>
            <a:r>
              <a:rPr lang="en-US" sz="2400" dirty="0" err="1" smtClean="0"/>
              <a:t>value_n</a:t>
            </a:r>
            <a:r>
              <a:rPr lang="en-US" sz="2400" dirty="0" smtClean="0"/>
              <a:t>, …)</a:t>
            </a:r>
          </a:p>
          <a:p>
            <a:pPr marL="0" indent="0">
              <a:buNone/>
            </a:pPr>
            <a:r>
              <a:rPr lang="en-US" sz="2400" dirty="0" smtClean="0"/>
              <a:t>RETURNING expression;</a:t>
            </a:r>
            <a:endParaRPr lang="en-US" sz="2400" dirty="0"/>
          </a:p>
          <a:p>
            <a:pPr marL="0" indent="0">
              <a:buNone/>
            </a:pPr>
            <a:r>
              <a:rPr lang="ru-RU" sz="2400" dirty="0"/>
              <a:t>Пример: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810" y="3805367"/>
            <a:ext cx="9874373" cy="2178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02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Импорт данных из </a:t>
            </a:r>
            <a:r>
              <a:rPr lang="en-US" b="1" dirty="0">
                <a:latin typeface="+mn-lt"/>
              </a:rPr>
              <a:t>CSV</a:t>
            </a:r>
            <a:r>
              <a:rPr lang="ru-RU" b="1" dirty="0">
                <a:latin typeface="+mn-lt"/>
              </a:rPr>
              <a:t> файла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91209" y="1138394"/>
            <a:ext cx="1333278" cy="510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Пример: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 txBox="1">
            <a:spLocks/>
          </p:cNvSpPr>
          <p:nvPr/>
        </p:nvSpPr>
        <p:spPr>
          <a:xfrm>
            <a:off x="367980" y="1801136"/>
            <a:ext cx="5239096" cy="3502428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COPY </a:t>
            </a:r>
            <a:r>
              <a:rPr lang="en-US" sz="2400" dirty="0" err="1"/>
              <a:t>table_name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FROM </a:t>
            </a:r>
            <a:r>
              <a:rPr lang="en-US" sz="2400" dirty="0" err="1"/>
              <a:t>file_path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WITH(</a:t>
            </a:r>
          </a:p>
          <a:p>
            <a:pPr marL="0" indent="0">
              <a:buNone/>
            </a:pPr>
            <a:r>
              <a:rPr lang="en-US" sz="2400" dirty="0"/>
              <a:t>	FORMAT </a:t>
            </a:r>
            <a:r>
              <a:rPr lang="en-US" sz="2400" dirty="0" err="1"/>
              <a:t>file_format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	DELIMITER '</a:t>
            </a:r>
            <a:r>
              <a:rPr lang="en-US" sz="2400" dirty="0" err="1"/>
              <a:t>dilimiter</a:t>
            </a:r>
            <a:r>
              <a:rPr lang="en-US" sz="2400" dirty="0"/>
              <a:t>', </a:t>
            </a:r>
          </a:p>
          <a:p>
            <a:pPr marL="0" indent="0">
              <a:buNone/>
            </a:pPr>
            <a:r>
              <a:rPr lang="en-US" sz="2400" dirty="0"/>
              <a:t>	HEADER true | false,</a:t>
            </a:r>
          </a:p>
          <a:p>
            <a:pPr marL="0" indent="0">
              <a:buNone/>
            </a:pPr>
            <a:r>
              <a:rPr lang="en-US" sz="2400" dirty="0"/>
              <a:t>	ENCODING '</a:t>
            </a:r>
            <a:r>
              <a:rPr lang="en-US" sz="2400" dirty="0" err="1"/>
              <a:t>encoding_name</a:t>
            </a:r>
            <a:r>
              <a:rPr lang="en-US" sz="2400" dirty="0"/>
              <a:t>',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NULL '</a:t>
            </a:r>
            <a:r>
              <a:rPr lang="en-US" sz="2400" dirty="0"/>
              <a:t>'</a:t>
            </a:r>
            <a:r>
              <a:rPr lang="en-US" sz="2400" dirty="0" smtClean="0"/>
              <a:t>,</a:t>
            </a:r>
          </a:p>
          <a:p>
            <a:pPr marL="0" indent="0">
              <a:buNone/>
            </a:pPr>
            <a:r>
              <a:rPr lang="en-US" sz="2400" dirty="0"/>
              <a:t>	DEFAULT '</a:t>
            </a:r>
            <a:r>
              <a:rPr lang="en-US" sz="2400" dirty="0" err="1" smtClean="0"/>
              <a:t>default_value</a:t>
            </a:r>
            <a:r>
              <a:rPr lang="en-US" sz="2400" dirty="0"/>
              <a:t>'</a:t>
            </a:r>
          </a:p>
          <a:p>
            <a:pPr marL="0" indent="0">
              <a:buNone/>
            </a:pPr>
            <a:r>
              <a:rPr lang="en-US" sz="2400" dirty="0"/>
              <a:t>)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76" y="1704132"/>
            <a:ext cx="6101544" cy="369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2726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+mn-lt"/>
              </a:rPr>
              <a:t>Импорт данных из </a:t>
            </a:r>
            <a:r>
              <a:rPr lang="en-US" b="1" dirty="0">
                <a:latin typeface="+mn-lt"/>
              </a:rPr>
              <a:t>JSON</a:t>
            </a:r>
            <a:r>
              <a:rPr lang="ru-RU" b="1" dirty="0">
                <a:latin typeface="+mn-lt"/>
              </a:rPr>
              <a:t> </a:t>
            </a:r>
            <a:r>
              <a:rPr lang="ru-RU" b="1" dirty="0" smtClean="0">
                <a:latin typeface="+mn-lt"/>
              </a:rPr>
              <a:t>файла</a:t>
            </a:r>
            <a:r>
              <a:rPr lang="en-US" b="1" dirty="0" smtClean="0">
                <a:latin typeface="+mn-lt"/>
              </a:rPr>
              <a:t> (1 </a:t>
            </a:r>
            <a:r>
              <a:rPr lang="ru-RU" b="1" dirty="0" smtClean="0">
                <a:latin typeface="+mn-lt"/>
              </a:rPr>
              <a:t>способ</a:t>
            </a:r>
            <a:r>
              <a:rPr lang="en-US" b="1" dirty="0" smtClean="0">
                <a:latin typeface="+mn-lt"/>
              </a:rPr>
              <a:t>)</a:t>
            </a:r>
            <a:endParaRPr lang="ru-RU" b="1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07" y="1266083"/>
            <a:ext cx="11133784" cy="389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6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+mn-lt"/>
              </a:rPr>
              <a:t>Импорт данных из </a:t>
            </a:r>
            <a:r>
              <a:rPr lang="en-US" b="1" dirty="0">
                <a:latin typeface="+mn-lt"/>
              </a:rPr>
              <a:t>JSON</a:t>
            </a:r>
            <a:r>
              <a:rPr lang="ru-RU" b="1" dirty="0">
                <a:latin typeface="+mn-lt"/>
              </a:rPr>
              <a:t> </a:t>
            </a:r>
            <a:r>
              <a:rPr lang="ru-RU" b="1" dirty="0" smtClean="0">
                <a:latin typeface="+mn-lt"/>
              </a:rPr>
              <a:t>файла</a:t>
            </a:r>
            <a:r>
              <a:rPr lang="en-US" b="1" dirty="0" smtClean="0">
                <a:latin typeface="+mn-lt"/>
              </a:rPr>
              <a:t> (</a:t>
            </a:r>
            <a:r>
              <a:rPr lang="ru-RU" b="1" dirty="0" smtClean="0">
                <a:latin typeface="+mn-lt"/>
              </a:rPr>
              <a:t>2</a:t>
            </a:r>
            <a:r>
              <a:rPr lang="en-US" b="1" dirty="0" smtClean="0">
                <a:latin typeface="+mn-lt"/>
              </a:rPr>
              <a:t> </a:t>
            </a:r>
            <a:r>
              <a:rPr lang="ru-RU" b="1" dirty="0" smtClean="0">
                <a:latin typeface="+mn-lt"/>
              </a:rPr>
              <a:t>способ</a:t>
            </a:r>
            <a:r>
              <a:rPr lang="en-US" b="1" dirty="0" smtClean="0">
                <a:latin typeface="+mn-lt"/>
              </a:rPr>
              <a:t>)</a:t>
            </a:r>
            <a:endParaRPr lang="ru-RU" b="1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578" y="1083153"/>
            <a:ext cx="9196842" cy="3635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93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</a:rPr>
              <a:t>Обновление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1083153"/>
            <a:ext cx="10704261" cy="19987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UPDATE </a:t>
            </a:r>
            <a:r>
              <a:rPr lang="en-US" sz="2400" dirty="0" err="1"/>
              <a:t>table_name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SET </a:t>
            </a:r>
            <a:r>
              <a:rPr lang="en-US" sz="2400" dirty="0" smtClean="0"/>
              <a:t>	</a:t>
            </a:r>
            <a:r>
              <a:rPr lang="en-US" sz="2400" dirty="0" err="1" smtClean="0"/>
              <a:t>column_name</a:t>
            </a:r>
            <a:r>
              <a:rPr lang="en-US" sz="2400" dirty="0" smtClean="0"/>
              <a:t> </a:t>
            </a:r>
            <a:r>
              <a:rPr lang="en-US" sz="2400" dirty="0"/>
              <a:t>= </a:t>
            </a:r>
            <a:r>
              <a:rPr lang="en-US" sz="2400" dirty="0" err="1"/>
              <a:t>new_value</a:t>
            </a:r>
            <a:r>
              <a:rPr lang="en-US" sz="2400" dirty="0"/>
              <a:t>,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column_name</a:t>
            </a:r>
            <a:r>
              <a:rPr lang="en-US" sz="2400" dirty="0"/>
              <a:t> = </a:t>
            </a:r>
            <a:r>
              <a:rPr lang="en-US" sz="2400" dirty="0" err="1"/>
              <a:t>new_value</a:t>
            </a:r>
            <a:r>
              <a:rPr lang="en-US" sz="2400" dirty="0"/>
              <a:t>, ...</a:t>
            </a:r>
          </a:p>
          <a:p>
            <a:pPr marL="0" indent="0">
              <a:buNone/>
            </a:pPr>
            <a:r>
              <a:rPr lang="en-US" sz="2400" dirty="0"/>
              <a:t>WHERE condition</a:t>
            </a:r>
          </a:p>
          <a:p>
            <a:pPr marL="0" indent="0">
              <a:buNone/>
            </a:pPr>
            <a:r>
              <a:rPr lang="en-US" sz="2400" dirty="0"/>
              <a:t>RETURNING </a:t>
            </a:r>
            <a:r>
              <a:rPr lang="en-US" sz="2400" dirty="0" smtClean="0"/>
              <a:t>expression</a:t>
            </a: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787" y="3243622"/>
            <a:ext cx="7684424" cy="329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9432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68165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>
                <a:latin typeface="+mn-lt"/>
              </a:rPr>
              <a:t>Удаление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681651"/>
            <a:ext cx="10704261" cy="26626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DELETE FROM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WHERE condition</a:t>
            </a:r>
          </a:p>
          <a:p>
            <a:pPr marL="0" indent="0">
              <a:buNone/>
            </a:pPr>
            <a:r>
              <a:rPr lang="en-US" dirty="0"/>
              <a:t>RETURNING </a:t>
            </a:r>
            <a:r>
              <a:rPr lang="en-US" dirty="0" err="1"/>
              <a:t>espression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TRUNCATE TABLE </a:t>
            </a:r>
            <a:r>
              <a:rPr lang="en-US" dirty="0" err="1"/>
              <a:t>table_name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RESTART IDENTITY | CONTINUE IDENTITY </a:t>
            </a:r>
          </a:p>
          <a:p>
            <a:pPr marL="0" indent="0">
              <a:buNone/>
            </a:pPr>
            <a:r>
              <a:rPr lang="en-US" dirty="0"/>
              <a:t>CASCADE | RESTRICT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16797"/>
            <a:ext cx="6777630" cy="197493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8274" y="3344333"/>
            <a:ext cx="6063726" cy="225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94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48668-C913-3446-702E-9FDB42583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+mn-lt"/>
              </a:rPr>
              <a:t>DQL</a:t>
            </a:r>
            <a:r>
              <a:rPr lang="ru-RU" sz="6000" dirty="0">
                <a:latin typeface="+mn-lt"/>
              </a:rPr>
              <a:t> – язык запросов</a:t>
            </a:r>
            <a:r>
              <a:rPr lang="en-US" sz="6000" dirty="0">
                <a:latin typeface="+mn-lt"/>
              </a:rPr>
              <a:t> </a:t>
            </a:r>
            <a:r>
              <a:rPr lang="ru-RU" sz="6000" dirty="0">
                <a:latin typeface="+mn-lt"/>
              </a:rPr>
              <a:t>к данным</a:t>
            </a:r>
            <a:endParaRPr lang="ru-RU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85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Типы операций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1083153"/>
            <a:ext cx="10704261" cy="5643377"/>
          </a:xfrm>
        </p:spPr>
        <p:txBody>
          <a:bodyPr>
            <a:normAutofit/>
          </a:bodyPr>
          <a:lstStyle/>
          <a:p>
            <a:r>
              <a:rPr lang="ru-RU" sz="3200" b="1" dirty="0"/>
              <a:t>Выборка</a:t>
            </a:r>
            <a:r>
              <a:rPr lang="ru-RU" sz="3200" dirty="0"/>
              <a:t> (</a:t>
            </a:r>
            <a:r>
              <a:rPr lang="ru-RU" sz="3200" dirty="0" err="1"/>
              <a:t>Restriction</a:t>
            </a:r>
            <a:r>
              <a:rPr lang="ru-RU" sz="3200" dirty="0"/>
              <a:t>)</a:t>
            </a:r>
          </a:p>
          <a:p>
            <a:r>
              <a:rPr lang="ru-RU" sz="3200" b="1" dirty="0"/>
              <a:t>Проекция </a:t>
            </a:r>
            <a:r>
              <a:rPr lang="ru-RU" sz="3200" dirty="0"/>
              <a:t>(</a:t>
            </a:r>
            <a:r>
              <a:rPr lang="ru-RU" sz="3200" dirty="0" err="1"/>
              <a:t>Projection</a:t>
            </a:r>
            <a:r>
              <a:rPr lang="ru-RU" sz="3200" dirty="0"/>
              <a:t>)</a:t>
            </a:r>
          </a:p>
          <a:p>
            <a:r>
              <a:rPr lang="ru-RU" sz="3200" b="1" dirty="0"/>
              <a:t>Соединение </a:t>
            </a:r>
            <a:r>
              <a:rPr lang="ru-RU" sz="3200" dirty="0"/>
              <a:t>(</a:t>
            </a:r>
            <a:r>
              <a:rPr lang="ru-RU" sz="3200" dirty="0" err="1"/>
              <a:t>Join</a:t>
            </a:r>
            <a:r>
              <a:rPr lang="ru-RU" sz="3200" dirty="0"/>
              <a:t>)</a:t>
            </a:r>
          </a:p>
          <a:p>
            <a:r>
              <a:rPr lang="ru-RU" sz="3200" b="1" dirty="0"/>
              <a:t>Объединение </a:t>
            </a:r>
            <a:r>
              <a:rPr lang="ru-RU" sz="3200" dirty="0"/>
              <a:t>(Union)</a:t>
            </a:r>
          </a:p>
        </p:txBody>
      </p:sp>
    </p:spTree>
    <p:extLst>
      <p:ext uri="{BB962C8B-B14F-4D97-AF65-F5344CB8AC3E}">
        <p14:creationId xmlns:p14="http://schemas.microsoft.com/office/powerpoint/2010/main" val="374032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Общая структура запроса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287867" y="829734"/>
            <a:ext cx="11065933" cy="58536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>
                <a:latin typeface="Arial Unicode MS"/>
              </a:rPr>
              <a:t>SELECT </a:t>
            </a:r>
            <a:r>
              <a:rPr lang="en-US" altLang="ru-RU" dirty="0" smtClean="0">
                <a:latin typeface="Arial Unicode MS"/>
              </a:rPr>
              <a:t>	</a:t>
            </a: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ALL | DISTINCT [ ON ( </a:t>
            </a:r>
            <a:r>
              <a:rPr lang="ru-RU" altLang="ru-RU" i="1" dirty="0">
                <a:latin typeface="Arial Unicode MS"/>
              </a:rPr>
              <a:t>выражение</a:t>
            </a:r>
            <a:r>
              <a:rPr lang="ru-RU" altLang="ru-RU" dirty="0">
                <a:latin typeface="Arial Unicode MS"/>
              </a:rPr>
              <a:t> [, ...] ) ] ] 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ru-RU" dirty="0">
                <a:latin typeface="Arial Unicode MS"/>
              </a:rPr>
              <a:t>	</a:t>
            </a:r>
            <a:r>
              <a:rPr lang="en-US" altLang="ru-RU" dirty="0" smtClean="0">
                <a:latin typeface="Arial Unicode MS"/>
              </a:rPr>
              <a:t>	</a:t>
            </a: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{ * | </a:t>
            </a:r>
            <a:r>
              <a:rPr lang="ru-RU" altLang="ru-RU" i="1" dirty="0">
                <a:latin typeface="Arial Unicode MS"/>
              </a:rPr>
              <a:t>выражение</a:t>
            </a:r>
            <a:r>
              <a:rPr lang="ru-RU" altLang="ru-RU" dirty="0">
                <a:latin typeface="Arial Unicode MS"/>
              </a:rPr>
              <a:t> [ [ AS ] </a:t>
            </a:r>
            <a:r>
              <a:rPr lang="ru-RU" altLang="ru-RU" i="1" dirty="0" err="1">
                <a:latin typeface="Arial Unicode MS"/>
              </a:rPr>
              <a:t>имя_результата</a:t>
            </a:r>
            <a:r>
              <a:rPr lang="ru-RU" altLang="ru-RU" dirty="0">
                <a:latin typeface="Arial Unicode MS"/>
              </a:rPr>
              <a:t> ] } [, ...] ] 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FROM </a:t>
            </a:r>
            <a:r>
              <a:rPr lang="ru-RU" altLang="ru-RU" i="1" dirty="0" err="1">
                <a:latin typeface="Arial Unicode MS"/>
              </a:rPr>
              <a:t>элемент_FROM</a:t>
            </a:r>
            <a:r>
              <a:rPr lang="ru-RU" altLang="ru-RU" dirty="0">
                <a:latin typeface="Arial Unicode MS"/>
              </a:rPr>
              <a:t> [, ...] </a:t>
            </a:r>
            <a:r>
              <a:rPr lang="ru-RU" altLang="ru-RU" dirty="0" smtClean="0">
                <a:latin typeface="Arial Unicode MS"/>
              </a:rPr>
              <a:t>]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WHERE </a:t>
            </a:r>
            <a:r>
              <a:rPr lang="ru-RU" altLang="ru-RU" i="1" dirty="0">
                <a:latin typeface="Arial Unicode MS"/>
              </a:rPr>
              <a:t>условие</a:t>
            </a:r>
            <a:r>
              <a:rPr lang="ru-RU" altLang="ru-RU" dirty="0">
                <a:latin typeface="Arial Unicode MS"/>
              </a:rPr>
              <a:t> ] 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GROUP BY [ ALL | DISTINCT ] </a:t>
            </a:r>
            <a:r>
              <a:rPr lang="ru-RU" altLang="ru-RU" i="1" dirty="0" err="1">
                <a:latin typeface="Arial Unicode MS"/>
              </a:rPr>
              <a:t>элемент_группирования</a:t>
            </a:r>
            <a:r>
              <a:rPr lang="ru-RU" altLang="ru-RU" dirty="0">
                <a:latin typeface="Arial Unicode MS"/>
              </a:rPr>
              <a:t> [, ...] ] 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HAVING </a:t>
            </a:r>
            <a:r>
              <a:rPr lang="ru-RU" altLang="ru-RU" i="1" dirty="0">
                <a:latin typeface="Arial Unicode MS"/>
              </a:rPr>
              <a:t>условие</a:t>
            </a:r>
            <a:r>
              <a:rPr lang="ru-RU" altLang="ru-RU" dirty="0">
                <a:latin typeface="Arial Unicode MS"/>
              </a:rPr>
              <a:t> ] 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WINDOW </a:t>
            </a:r>
            <a:r>
              <a:rPr lang="ru-RU" altLang="ru-RU" i="1" dirty="0" err="1">
                <a:latin typeface="Arial Unicode MS"/>
              </a:rPr>
              <a:t>имя_окна</a:t>
            </a:r>
            <a:r>
              <a:rPr lang="ru-RU" altLang="ru-RU" dirty="0">
                <a:latin typeface="Arial Unicode MS"/>
              </a:rPr>
              <a:t> AS ( </a:t>
            </a:r>
            <a:r>
              <a:rPr lang="ru-RU" altLang="ru-RU" i="1" dirty="0" err="1">
                <a:latin typeface="Arial Unicode MS"/>
              </a:rPr>
              <a:t>определение_окна</a:t>
            </a:r>
            <a:r>
              <a:rPr lang="ru-RU" altLang="ru-RU" dirty="0">
                <a:latin typeface="Arial Unicode MS"/>
              </a:rPr>
              <a:t> ) [, ...] </a:t>
            </a:r>
            <a:r>
              <a:rPr lang="ru-RU" altLang="ru-RU" dirty="0" smtClean="0">
                <a:latin typeface="Arial Unicode MS"/>
              </a:rPr>
              <a:t>]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{ UNION | INTERSECT | EXCEPT } [ ALL | DISTINCT ] </a:t>
            </a:r>
            <a:r>
              <a:rPr lang="ru-RU" altLang="ru-RU" i="1" dirty="0">
                <a:latin typeface="Arial Unicode MS"/>
              </a:rPr>
              <a:t>выборка</a:t>
            </a:r>
            <a:r>
              <a:rPr lang="ru-RU" altLang="ru-RU" dirty="0">
                <a:latin typeface="Arial Unicode MS"/>
              </a:rPr>
              <a:t> ] 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ORDER BY </a:t>
            </a:r>
            <a:r>
              <a:rPr lang="ru-RU" altLang="ru-RU" i="1" dirty="0">
                <a:latin typeface="Arial Unicode MS"/>
              </a:rPr>
              <a:t>выражение</a:t>
            </a:r>
            <a:r>
              <a:rPr lang="ru-RU" altLang="ru-RU" dirty="0">
                <a:latin typeface="Arial Unicode MS"/>
              </a:rPr>
              <a:t> [ ASC | </a:t>
            </a:r>
            <a:r>
              <a:rPr lang="ru-RU" altLang="ru-RU" dirty="0" smtClean="0">
                <a:latin typeface="Arial Unicode MS"/>
              </a:rPr>
              <a:t>DESC</a:t>
            </a:r>
            <a:r>
              <a:rPr lang="en-US" altLang="ru-RU" dirty="0" smtClean="0">
                <a:latin typeface="Arial Unicode MS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LIMIT { </a:t>
            </a:r>
            <a:r>
              <a:rPr lang="ru-RU" altLang="ru-RU" i="1" dirty="0">
                <a:latin typeface="Arial Unicode MS"/>
              </a:rPr>
              <a:t>число</a:t>
            </a:r>
            <a:r>
              <a:rPr lang="ru-RU" altLang="ru-RU" dirty="0">
                <a:latin typeface="Arial Unicode MS"/>
              </a:rPr>
              <a:t> | ALL } ] 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OFFSET </a:t>
            </a:r>
            <a:r>
              <a:rPr lang="ru-RU" altLang="ru-RU" i="1" dirty="0">
                <a:latin typeface="Arial Unicode MS"/>
              </a:rPr>
              <a:t>начало</a:t>
            </a:r>
            <a:r>
              <a:rPr lang="ru-RU" altLang="ru-RU" dirty="0">
                <a:latin typeface="Arial Unicode MS"/>
              </a:rPr>
              <a:t> [ ROW | ROWS ] </a:t>
            </a:r>
            <a:r>
              <a:rPr lang="ru-RU" altLang="ru-RU" dirty="0" smtClean="0">
                <a:latin typeface="Arial Unicode MS"/>
              </a:rPr>
              <a:t>]</a:t>
            </a:r>
            <a:endParaRPr lang="en-US" altLang="ru-RU" dirty="0" smtClean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 smtClean="0">
                <a:latin typeface="Arial Unicode MS"/>
              </a:rPr>
              <a:t>[ </a:t>
            </a:r>
            <a:r>
              <a:rPr lang="ru-RU" altLang="ru-RU" dirty="0">
                <a:latin typeface="Arial Unicode MS"/>
              </a:rPr>
              <a:t>FETCH { FIRST | NEXT } [ </a:t>
            </a:r>
            <a:r>
              <a:rPr lang="ru-RU" altLang="ru-RU" i="1" dirty="0">
                <a:latin typeface="Arial Unicode MS"/>
              </a:rPr>
              <a:t>число</a:t>
            </a:r>
            <a:r>
              <a:rPr lang="ru-RU" altLang="ru-RU" dirty="0">
                <a:latin typeface="Arial Unicode MS"/>
              </a:rPr>
              <a:t> ] { ROW | ROWS }</a:t>
            </a:r>
            <a:r>
              <a:rPr lang="ru-RU" altLang="ru-RU" sz="2000" dirty="0"/>
              <a:t> </a:t>
            </a:r>
            <a:endParaRPr lang="ru-RU" altLang="ru-RU" sz="5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126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Операции выборки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1083153"/>
            <a:ext cx="10704261" cy="117899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3600" b="1" dirty="0"/>
              <a:t>Операция выборки </a:t>
            </a:r>
            <a:r>
              <a:rPr lang="ru-RU" sz="3600" dirty="0"/>
              <a:t>позволяет получить все строки (записи) либо часть строк одной таблицы.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7251863" y="2507211"/>
            <a:ext cx="4652269" cy="3803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837" y="2422543"/>
            <a:ext cx="7476323" cy="379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84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Операции проекции</a:t>
            </a:r>
            <a:endParaRPr lang="ru-RU" b="1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1083153"/>
            <a:ext cx="10704261" cy="117899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4000" b="1" dirty="0"/>
              <a:t>Операция проекции </a:t>
            </a:r>
            <a:r>
              <a:rPr lang="ru-RU" sz="4000" dirty="0"/>
              <a:t>позволяет выделить подмножество столбцов таблицы.</a:t>
            </a:r>
            <a:endParaRPr lang="ru-RU" sz="36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949" y="2337154"/>
            <a:ext cx="8190099" cy="4003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625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Использование </a:t>
            </a:r>
            <a:r>
              <a:rPr lang="en-US" dirty="0">
                <a:latin typeface="+mn-lt"/>
              </a:rPr>
              <a:t>AS</a:t>
            </a:r>
            <a:endParaRPr lang="ru-RU" b="1" dirty="0">
              <a:latin typeface="+mn-lt"/>
            </a:endParaRP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1B900D8E-C9F8-6CAC-5B09-E9121D404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869" y="1083153"/>
            <a:ext cx="10704261" cy="117899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3600" dirty="0"/>
              <a:t> </a:t>
            </a:r>
            <a:r>
              <a:rPr lang="en-US" sz="3600" dirty="0"/>
              <a:t>AS –</a:t>
            </a:r>
            <a:r>
              <a:rPr lang="ru-RU" sz="3600" dirty="0"/>
              <a:t> оператор, который позволяет присвоить объекту псевдоним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5610" y="2455249"/>
            <a:ext cx="9580777" cy="235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39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Агрегатные функции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5258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ru-RU" sz="3600" dirty="0" smtClean="0"/>
              <a:t>К</a:t>
            </a:r>
            <a:r>
              <a:rPr lang="en-US" sz="3600" dirty="0" smtClean="0"/>
              <a:t> </a:t>
            </a:r>
            <a:r>
              <a:rPr lang="ru-RU" sz="3600" dirty="0" smtClean="0"/>
              <a:t>основным </a:t>
            </a:r>
            <a:r>
              <a:rPr lang="ru-RU" sz="3600" dirty="0"/>
              <a:t>агрегатным функциям </a:t>
            </a:r>
            <a:r>
              <a:rPr lang="ru-RU" sz="3600" dirty="0" smtClean="0"/>
              <a:t>относятся:</a:t>
            </a:r>
            <a:endParaRPr lang="ru-RU" sz="3600" dirty="0"/>
          </a:p>
          <a:p>
            <a:pPr marL="514350" indent="-514350">
              <a:buFont typeface="+mj-lt"/>
              <a:buAutoNum type="arabicPeriod"/>
            </a:pPr>
            <a:r>
              <a:rPr lang="en-US" sz="3600" dirty="0"/>
              <a:t>s</a:t>
            </a:r>
            <a:r>
              <a:rPr lang="en-US" sz="3600" dirty="0" smtClean="0"/>
              <a:t>um(expression)</a:t>
            </a:r>
            <a:r>
              <a:rPr lang="ru-RU" sz="3600" dirty="0" smtClean="0"/>
              <a:t>; </a:t>
            </a:r>
            <a:endParaRPr lang="ru-RU" sz="3600" dirty="0"/>
          </a:p>
          <a:p>
            <a:pPr marL="514350" indent="-514350">
              <a:buFont typeface="+mj-lt"/>
              <a:buAutoNum type="arabicPeriod"/>
            </a:pPr>
            <a:r>
              <a:rPr lang="en-US" sz="3600" dirty="0" smtClean="0"/>
              <a:t>max(expression</a:t>
            </a:r>
            <a:r>
              <a:rPr lang="en-US" sz="3600" dirty="0"/>
              <a:t>)</a:t>
            </a:r>
            <a:r>
              <a:rPr lang="ru-RU" sz="3600" dirty="0"/>
              <a:t>; </a:t>
            </a:r>
            <a:endParaRPr lang="en-US" sz="36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600" dirty="0" smtClean="0"/>
              <a:t>min(expression</a:t>
            </a:r>
            <a:r>
              <a:rPr lang="en-US" sz="3600" dirty="0"/>
              <a:t>)</a:t>
            </a:r>
            <a:r>
              <a:rPr lang="ru-RU" sz="3600" dirty="0" smtClean="0"/>
              <a:t>;</a:t>
            </a:r>
            <a:endParaRPr lang="ru-RU" sz="3600" dirty="0"/>
          </a:p>
          <a:p>
            <a:pPr marL="514350" indent="-514350">
              <a:buFont typeface="+mj-lt"/>
              <a:buAutoNum type="arabicPeriod"/>
            </a:pPr>
            <a:r>
              <a:rPr lang="en-US" sz="3600" dirty="0" err="1" smtClean="0"/>
              <a:t>avg</a:t>
            </a:r>
            <a:r>
              <a:rPr lang="en-US" sz="3600" dirty="0" smtClean="0"/>
              <a:t>(expression</a:t>
            </a:r>
            <a:r>
              <a:rPr lang="en-US" sz="3600" dirty="0"/>
              <a:t>)</a:t>
            </a:r>
            <a:r>
              <a:rPr lang="ru-RU" sz="3600" dirty="0"/>
              <a:t>; </a:t>
            </a:r>
            <a:endParaRPr lang="en-US" sz="36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600" dirty="0" smtClean="0"/>
              <a:t>count(expression|*)</a:t>
            </a:r>
            <a:r>
              <a:rPr lang="ru-RU" sz="3600" dirty="0" smtClean="0"/>
              <a:t>;</a:t>
            </a:r>
            <a:endParaRPr lang="en-US" sz="36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600" dirty="0" err="1" smtClean="0"/>
              <a:t>bool_and</a:t>
            </a:r>
            <a:r>
              <a:rPr lang="en-US" sz="3600" dirty="0" smtClean="0"/>
              <a:t>(expression</a:t>
            </a:r>
            <a:r>
              <a:rPr lang="en-US" sz="3600" dirty="0"/>
              <a:t>)</a:t>
            </a:r>
            <a:r>
              <a:rPr lang="ru-RU" sz="3600" dirty="0" smtClean="0"/>
              <a:t>;</a:t>
            </a:r>
            <a:endParaRPr lang="en-US" sz="3600" dirty="0" smtClean="0"/>
          </a:p>
          <a:p>
            <a:pPr marL="514350" indent="-514350">
              <a:buFont typeface="+mj-lt"/>
              <a:buAutoNum type="arabicPeriod"/>
            </a:pPr>
            <a:r>
              <a:rPr lang="en-US" sz="3600" dirty="0" err="1" smtClean="0"/>
              <a:t>bool_or</a:t>
            </a:r>
            <a:r>
              <a:rPr lang="en-US" sz="3600" dirty="0" smtClean="0"/>
              <a:t>(expression)</a:t>
            </a:r>
            <a:r>
              <a:rPr lang="ru-RU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736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Агрегатные функции</a:t>
            </a:r>
            <a:endParaRPr lang="ru-RU" b="1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82" y="1605392"/>
            <a:ext cx="11460833" cy="232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5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WHERE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5258781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ru-RU" sz="4200" b="1" dirty="0"/>
              <a:t>сравнение</a:t>
            </a:r>
            <a:r>
              <a:rPr lang="ru-RU" sz="4200" dirty="0"/>
              <a:t> с использованием реляционных операторов</a:t>
            </a:r>
          </a:p>
          <a:p>
            <a:pPr lvl="2">
              <a:buNone/>
            </a:pPr>
            <a:r>
              <a:rPr lang="ru-RU" sz="4200" dirty="0"/>
              <a:t>=		равно</a:t>
            </a:r>
          </a:p>
          <a:p>
            <a:pPr lvl="2">
              <a:buNone/>
            </a:pPr>
            <a:r>
              <a:rPr lang="ru-RU" sz="4200" dirty="0"/>
              <a:t>&lt;&gt;	не равно</a:t>
            </a:r>
          </a:p>
          <a:p>
            <a:pPr lvl="2">
              <a:buNone/>
            </a:pPr>
            <a:r>
              <a:rPr lang="ru-RU" sz="4200" dirty="0"/>
              <a:t>!=	не равно</a:t>
            </a:r>
          </a:p>
          <a:p>
            <a:pPr lvl="2">
              <a:buNone/>
            </a:pPr>
            <a:r>
              <a:rPr lang="ru-RU" sz="4200" dirty="0"/>
              <a:t>&gt;		больше</a:t>
            </a:r>
          </a:p>
          <a:p>
            <a:pPr lvl="2">
              <a:buNone/>
            </a:pPr>
            <a:r>
              <a:rPr lang="ru-RU" sz="4200" dirty="0"/>
              <a:t>&lt;		меньше</a:t>
            </a:r>
          </a:p>
          <a:p>
            <a:pPr lvl="2">
              <a:buNone/>
            </a:pPr>
            <a:r>
              <a:rPr lang="ru-RU" sz="4200" dirty="0"/>
              <a:t>&gt;=	больше или равно</a:t>
            </a:r>
          </a:p>
          <a:p>
            <a:pPr lvl="2">
              <a:buNone/>
            </a:pPr>
            <a:r>
              <a:rPr lang="ru-RU" sz="4200" dirty="0"/>
              <a:t>&lt;=	меньше или равно</a:t>
            </a:r>
          </a:p>
          <a:p>
            <a:pPr lvl="0"/>
            <a:r>
              <a:rPr lang="ru-RU" sz="4200" b="1" dirty="0"/>
              <a:t>BETWEEN</a:t>
            </a:r>
            <a:r>
              <a:rPr lang="en-US" sz="4200" b="1" dirty="0"/>
              <a:t> </a:t>
            </a:r>
            <a:r>
              <a:rPr lang="en-US" sz="4200" dirty="0"/>
              <a:t>– </a:t>
            </a:r>
            <a:r>
              <a:rPr lang="ru-RU" sz="4200" dirty="0"/>
              <a:t>позволяет указать диапазон значений</a:t>
            </a:r>
          </a:p>
          <a:p>
            <a:pPr lvl="0"/>
            <a:r>
              <a:rPr lang="ru-RU" sz="4200" b="1" dirty="0"/>
              <a:t>IN </a:t>
            </a:r>
            <a:r>
              <a:rPr lang="ru-RU" sz="4100" dirty="0"/>
              <a:t>– проверяет вхождение значения в набор</a:t>
            </a:r>
          </a:p>
          <a:p>
            <a:pPr lvl="0"/>
            <a:r>
              <a:rPr lang="ru-RU" sz="4200" b="1" dirty="0"/>
              <a:t>LIKE </a:t>
            </a:r>
            <a:r>
              <a:rPr lang="ru-RU" sz="4100" dirty="0"/>
              <a:t>– проверяет значение на соответствие шаблону</a:t>
            </a:r>
          </a:p>
          <a:p>
            <a:pPr lvl="0"/>
            <a:r>
              <a:rPr lang="ru-RU" sz="4200" b="1" dirty="0"/>
              <a:t>IS NULL </a:t>
            </a:r>
            <a:r>
              <a:rPr lang="ru-RU" sz="4100" dirty="0"/>
              <a:t>– проверяет значение на </a:t>
            </a:r>
            <a:r>
              <a:rPr lang="en-US" sz="4100" dirty="0"/>
              <a:t>NULL</a:t>
            </a:r>
            <a:endParaRPr lang="ru-RU" sz="4100" dirty="0"/>
          </a:p>
        </p:txBody>
      </p:sp>
    </p:spTree>
    <p:extLst>
      <p:ext uri="{BB962C8B-B14F-4D97-AF65-F5344CB8AC3E}">
        <p14:creationId xmlns:p14="http://schemas.microsoft.com/office/powerpoint/2010/main" val="160273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Операторы сравнения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" y="1211728"/>
            <a:ext cx="6118530" cy="132827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658" y="2788113"/>
            <a:ext cx="5923209" cy="1589154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3628" y="4896311"/>
            <a:ext cx="7564772" cy="15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12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BETWEEN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16" y="1768315"/>
            <a:ext cx="7159617" cy="1873907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6388" y="4327384"/>
            <a:ext cx="8027411" cy="1873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BETWEEN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6" y="1691407"/>
            <a:ext cx="7593941" cy="188591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0489" y="4185573"/>
            <a:ext cx="8333310" cy="213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185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LIKE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2444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>
                <a:solidFill>
                  <a:srgbClr val="000000"/>
                </a:solidFill>
              </a:rPr>
              <a:t>Шаблонные символы:</a:t>
            </a:r>
          </a:p>
          <a:p>
            <a:pPr marL="457200" indent="-457200"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% – </a:t>
            </a:r>
            <a:r>
              <a:rPr lang="ru-RU" sz="2400" dirty="0"/>
              <a:t>любая подстрока, которая может иметь любое количество символов (включая пустую подстроку</a:t>
            </a:r>
            <a:r>
              <a:rPr lang="ru-RU" sz="2400" dirty="0" smtClean="0"/>
              <a:t>)</a:t>
            </a:r>
            <a:r>
              <a:rPr lang="en-US" sz="2400" dirty="0" smtClean="0"/>
              <a:t>.</a:t>
            </a:r>
            <a:endParaRPr lang="ru-RU" sz="2400" dirty="0">
              <a:solidFill>
                <a:srgbClr val="000000"/>
              </a:solidFill>
            </a:endParaRPr>
          </a:p>
          <a:p>
            <a:pPr marL="457200" indent="-457200">
              <a:buAutoNum type="arabicPeriod"/>
            </a:pPr>
            <a:r>
              <a:rPr lang="ru-RU" sz="2400" dirty="0">
                <a:solidFill>
                  <a:srgbClr val="000000"/>
                </a:solidFill>
              </a:rPr>
              <a:t>_ – </a:t>
            </a:r>
            <a:r>
              <a:rPr lang="ru-RU" sz="2400" dirty="0"/>
              <a:t>любой один </a:t>
            </a:r>
            <a:r>
              <a:rPr lang="ru-RU" sz="2400" dirty="0" smtClean="0"/>
              <a:t>символ</a:t>
            </a:r>
            <a:r>
              <a:rPr lang="en-US" sz="2400" dirty="0" smtClean="0"/>
              <a:t>.</a:t>
            </a:r>
          </a:p>
          <a:p>
            <a:pPr marL="457200" indent="-457200">
              <a:buAutoNum type="arabicPeriod"/>
            </a:pPr>
            <a:r>
              <a:rPr lang="en-US" sz="2400" dirty="0" smtClean="0"/>
              <a:t>\% </a:t>
            </a:r>
            <a:r>
              <a:rPr lang="ru-RU" sz="2400" dirty="0" smtClean="0"/>
              <a:t>или </a:t>
            </a:r>
            <a:r>
              <a:rPr lang="en-US" sz="2400" dirty="0" smtClean="0"/>
              <a:t>\_ </a:t>
            </a:r>
            <a:r>
              <a:rPr lang="ru-RU" sz="2400" dirty="0" smtClean="0">
                <a:solidFill>
                  <a:srgbClr val="000000"/>
                </a:solidFill>
              </a:rPr>
              <a:t>–</a:t>
            </a:r>
            <a:r>
              <a:rPr lang="en-US" sz="2400" dirty="0" smtClean="0"/>
              <a:t> </a:t>
            </a:r>
            <a:r>
              <a:rPr lang="ru-RU" sz="2400" dirty="0" smtClean="0"/>
              <a:t>экранирование шаблонных символов </a:t>
            </a:r>
            <a:endParaRPr lang="ru-RU" sz="24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919" y="3496669"/>
            <a:ext cx="6928361" cy="140915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532" y="5280492"/>
            <a:ext cx="8477549" cy="1402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5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LIKE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6" y="1248240"/>
            <a:ext cx="7544933" cy="136796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833" y="3120699"/>
            <a:ext cx="9263739" cy="142987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6465" y="5055070"/>
            <a:ext cx="9560002" cy="1311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2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IS NULL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55" y="1805695"/>
            <a:ext cx="7099891" cy="158703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2635" y="4115271"/>
            <a:ext cx="8659365" cy="161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15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IN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64" y="2068065"/>
            <a:ext cx="8568595" cy="140518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2916" y="4458166"/>
            <a:ext cx="8316332" cy="174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22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Комбинации операторов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6" y="1772861"/>
            <a:ext cx="9771989" cy="143306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5904" y="3895630"/>
            <a:ext cx="8810629" cy="218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350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Подзапросы</a:t>
            </a:r>
            <a:endParaRPr lang="ru-RU" b="1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49" y="1172113"/>
            <a:ext cx="5443283" cy="2432385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8799" y="3693458"/>
            <a:ext cx="8788724" cy="2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Несколько таблиц в операторе </a:t>
            </a:r>
            <a:r>
              <a:rPr lang="en-US" dirty="0">
                <a:latin typeface="+mn-lt"/>
              </a:rPr>
              <a:t>FROM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85" y="1884501"/>
            <a:ext cx="5060908" cy="102609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9404" y="3711943"/>
            <a:ext cx="8631752" cy="225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45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DISTINCT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820" y="1435280"/>
            <a:ext cx="6344979" cy="22191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500" y="4006587"/>
            <a:ext cx="8019881" cy="20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840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ORDER BY</a:t>
            </a:r>
            <a:endParaRPr lang="ru-RU" b="1" dirty="0">
              <a:latin typeface="+mn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643" y="4254388"/>
            <a:ext cx="7944832" cy="236654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7591"/>
            <a:ext cx="8008769" cy="2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86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ORDER BY</a:t>
            </a:r>
            <a:endParaRPr lang="ru-RU" b="1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64" y="1083153"/>
            <a:ext cx="7825243" cy="194791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693" y="4114219"/>
            <a:ext cx="8404093" cy="222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37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ORDER BY</a:t>
            </a:r>
            <a:endParaRPr lang="ru-RU" b="1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32" y="1515458"/>
            <a:ext cx="7439333" cy="18034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082" y="4086135"/>
            <a:ext cx="8607918" cy="229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03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GROUP BY</a:t>
            </a:r>
            <a:endParaRPr lang="ru-RU" b="1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75" y="1083153"/>
            <a:ext cx="10205848" cy="420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8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GROUP BY</a:t>
            </a:r>
            <a:endParaRPr lang="ru-RU" b="1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75" y="2051182"/>
            <a:ext cx="10716847" cy="317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91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GROUP BY</a:t>
            </a:r>
            <a:endParaRPr lang="ru-RU" b="1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505745"/>
            <a:ext cx="11260121" cy="1571844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1911343"/>
            <a:ext cx="9768014" cy="176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01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HAVING</a:t>
            </a:r>
            <a:endParaRPr lang="ru-RU" b="1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589" y="2039300"/>
            <a:ext cx="8560819" cy="2498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0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Системные функции (числа)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round( </a:t>
            </a:r>
            <a:r>
              <a:rPr lang="en-US" altLang="ru-RU" sz="2000" dirty="0" smtClean="0"/>
              <a:t>numeric</a:t>
            </a:r>
            <a:r>
              <a:rPr lang="ru-RU" altLang="ru-RU" sz="2000" dirty="0" smtClean="0"/>
              <a:t> </a:t>
            </a:r>
            <a:r>
              <a:rPr lang="ru-RU" altLang="ru-RU" sz="2000" dirty="0"/>
              <a:t>, </a:t>
            </a:r>
            <a:r>
              <a:rPr lang="ru-RU" altLang="ru-RU" sz="2000" dirty="0" err="1"/>
              <a:t>length</a:t>
            </a:r>
            <a:r>
              <a:rPr lang="ru-RU" altLang="ru-RU" sz="2000" dirty="0"/>
              <a:t> </a:t>
            </a:r>
            <a:r>
              <a:rPr lang="en-US" sz="2000" dirty="0"/>
              <a:t>) – </a:t>
            </a:r>
            <a:r>
              <a:rPr lang="ru-RU" sz="2000" dirty="0"/>
              <a:t>округляет число.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ceiling( </a:t>
            </a:r>
            <a:r>
              <a:rPr lang="ru-RU" altLang="ru-RU" sz="2000" dirty="0" err="1"/>
              <a:t>numeric_expression</a:t>
            </a:r>
            <a:r>
              <a:rPr lang="en-US" altLang="ru-RU" sz="2000" dirty="0"/>
              <a:t> </a:t>
            </a:r>
            <a:r>
              <a:rPr lang="en-US" sz="2000" dirty="0"/>
              <a:t>) – </a:t>
            </a:r>
            <a:r>
              <a:rPr lang="ru-RU" sz="2000" dirty="0"/>
              <a:t>возвращает наименьшее целое число, которое больше или равно переданному значению.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floor( </a:t>
            </a:r>
            <a:r>
              <a:rPr lang="ru-RU" altLang="ru-RU" sz="2000" dirty="0" err="1"/>
              <a:t>numeric_expression</a:t>
            </a:r>
            <a:r>
              <a:rPr lang="en-US" altLang="ru-RU" sz="2000" dirty="0"/>
              <a:t> </a:t>
            </a:r>
            <a:r>
              <a:rPr lang="en-US" sz="2000" dirty="0"/>
              <a:t>) – </a:t>
            </a:r>
            <a:r>
              <a:rPr lang="ru-RU" sz="2000" dirty="0"/>
              <a:t>возвращает наибольшее целое число, которое меньше или равно переданному значению.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abs( </a:t>
            </a:r>
            <a:r>
              <a:rPr lang="ru-RU" altLang="ru-RU" sz="2000" dirty="0" err="1"/>
              <a:t>numeric_expression</a:t>
            </a:r>
            <a:r>
              <a:rPr lang="en-US" sz="2000" dirty="0"/>
              <a:t> ) – </a:t>
            </a:r>
            <a:r>
              <a:rPr lang="ru-RU" sz="2000" dirty="0"/>
              <a:t>возвращает абсолютное значение числа.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err="1" smtClean="0"/>
              <a:t>sqrt</a:t>
            </a:r>
            <a:r>
              <a:rPr lang="en-US" sz="2000" dirty="0" smtClean="0"/>
              <a:t>( </a:t>
            </a:r>
            <a:r>
              <a:rPr lang="en-US" altLang="ru-RU" sz="2000" dirty="0" smtClean="0"/>
              <a:t>numeric</a:t>
            </a:r>
            <a:r>
              <a:rPr lang="ru-RU" sz="2000" dirty="0" smtClean="0"/>
              <a:t> </a:t>
            </a:r>
            <a:r>
              <a:rPr lang="en-US" sz="2000" dirty="0" smtClean="0"/>
              <a:t>)</a:t>
            </a:r>
            <a:r>
              <a:rPr lang="ru-RU" sz="2000" dirty="0" smtClean="0"/>
              <a:t> – получает квадратный корень числа.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power( </a:t>
            </a:r>
            <a:r>
              <a:rPr lang="en-US" altLang="ru-RU" sz="2000" dirty="0" smtClean="0"/>
              <a:t>numeric</a:t>
            </a:r>
            <a:r>
              <a:rPr lang="ru-RU" sz="2000" dirty="0" smtClean="0"/>
              <a:t> </a:t>
            </a:r>
            <a:r>
              <a:rPr lang="en-US" sz="2000" dirty="0"/>
              <a:t>, y</a:t>
            </a:r>
            <a:r>
              <a:rPr lang="ru-RU" sz="2000" dirty="0"/>
              <a:t> </a:t>
            </a:r>
            <a:r>
              <a:rPr lang="en-US" sz="2000" dirty="0"/>
              <a:t>)</a:t>
            </a:r>
            <a:r>
              <a:rPr lang="ru-RU" sz="2000" dirty="0"/>
              <a:t> – возводит число в степень</a:t>
            </a:r>
            <a:r>
              <a:rPr lang="ru-RU" sz="2000" dirty="0" smtClean="0"/>
              <a:t>.</a:t>
            </a:r>
            <a:endParaRPr lang="en-US" sz="2000" dirty="0" smtClean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err="1" smtClean="0"/>
              <a:t>exp</a:t>
            </a:r>
            <a:r>
              <a:rPr lang="en-US" sz="2000" dirty="0" smtClean="0"/>
              <a:t>( </a:t>
            </a:r>
            <a:r>
              <a:rPr lang="en-US" altLang="ru-RU" sz="2000" dirty="0" smtClean="0"/>
              <a:t>numeric</a:t>
            </a:r>
            <a:r>
              <a:rPr lang="ru-RU" sz="2000" dirty="0" smtClean="0"/>
              <a:t> </a:t>
            </a:r>
            <a:r>
              <a:rPr lang="en-US" sz="2000" dirty="0"/>
              <a:t>)</a:t>
            </a:r>
            <a:r>
              <a:rPr lang="ru-RU" sz="2000" dirty="0"/>
              <a:t> – </a:t>
            </a:r>
            <a:r>
              <a:rPr lang="ru-RU" sz="2000" dirty="0" smtClean="0"/>
              <a:t>экспонента.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factorial( </a:t>
            </a:r>
            <a:r>
              <a:rPr lang="en-US" sz="2000" dirty="0" err="1" smtClean="0"/>
              <a:t>bigint</a:t>
            </a:r>
            <a:r>
              <a:rPr lang="ru-RU" sz="2000" dirty="0" smtClean="0"/>
              <a:t> </a:t>
            </a:r>
            <a:r>
              <a:rPr lang="en-US" sz="2000" dirty="0"/>
              <a:t>)</a:t>
            </a:r>
            <a:r>
              <a:rPr lang="ru-RU" sz="2000" dirty="0"/>
              <a:t> – </a:t>
            </a:r>
            <a:r>
              <a:rPr lang="ru-RU" sz="2000" dirty="0" smtClean="0"/>
              <a:t>факториал.</a:t>
            </a:r>
            <a:endParaRPr lang="en-US" sz="2000" dirty="0" smtClean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scale( </a:t>
            </a:r>
            <a:r>
              <a:rPr lang="en-US" altLang="ru-RU" sz="2000" dirty="0"/>
              <a:t>numeric</a:t>
            </a:r>
            <a:r>
              <a:rPr lang="ru-RU" sz="2000" dirty="0"/>
              <a:t> </a:t>
            </a:r>
            <a:r>
              <a:rPr lang="en-US" sz="2000" dirty="0"/>
              <a:t>)</a:t>
            </a:r>
            <a:r>
              <a:rPr lang="ru-RU" sz="2000" dirty="0"/>
              <a:t> – масштаб аргумента(число десятичных цифр в дробной части).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sign( </a:t>
            </a:r>
            <a:r>
              <a:rPr lang="en-US" altLang="ru-RU" sz="2000" dirty="0"/>
              <a:t>numeric</a:t>
            </a:r>
            <a:r>
              <a:rPr lang="ru-RU" sz="2000" dirty="0"/>
              <a:t> </a:t>
            </a:r>
            <a:r>
              <a:rPr lang="en-US" sz="2000" dirty="0"/>
              <a:t>)</a:t>
            </a:r>
            <a:r>
              <a:rPr lang="ru-RU" sz="2000" dirty="0"/>
              <a:t> – </a:t>
            </a:r>
            <a:r>
              <a:rPr lang="ru-RU" sz="2000" dirty="0" smtClean="0"/>
              <a:t>знак аргумента.</a:t>
            </a:r>
            <a:endParaRPr lang="en-US" sz="2000" dirty="0" smtClean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random() – </a:t>
            </a:r>
            <a:r>
              <a:rPr lang="ru-RU" sz="2000" dirty="0"/>
              <a:t>случайное число в диапазоне 0.0 &lt;= x &lt; 1.0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3331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863599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Системные функции (строки)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endParaRPr lang="ru-RU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896304"/>
            <a:ext cx="12192000" cy="57748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length( </a:t>
            </a:r>
            <a:r>
              <a:rPr lang="ru-RU" altLang="ru-RU" sz="2000" dirty="0" err="1" smtClean="0"/>
              <a:t>string</a:t>
            </a:r>
            <a:r>
              <a:rPr lang="en-US" sz="2000" dirty="0" smtClean="0"/>
              <a:t> </a:t>
            </a:r>
            <a:r>
              <a:rPr lang="ru-RU" sz="2000" dirty="0"/>
              <a:t>) – возвращает количество символов в строке.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ru-RU" sz="2000" dirty="0" smtClean="0"/>
              <a:t>trim</a:t>
            </a:r>
            <a:r>
              <a:rPr lang="ru-RU" altLang="ru-RU" sz="2000" dirty="0" smtClean="0"/>
              <a:t>([</a:t>
            </a:r>
            <a:r>
              <a:rPr lang="ru-RU" altLang="ru-RU" sz="2000" dirty="0" err="1"/>
              <a:t>leading</a:t>
            </a:r>
            <a:r>
              <a:rPr lang="ru-RU" altLang="ru-RU" sz="2000" dirty="0"/>
              <a:t> | </a:t>
            </a:r>
            <a:r>
              <a:rPr lang="ru-RU" altLang="ru-RU" sz="2000" dirty="0" err="1"/>
              <a:t>trailing</a:t>
            </a:r>
            <a:r>
              <a:rPr lang="ru-RU" altLang="ru-RU" sz="2000" dirty="0"/>
              <a:t> | </a:t>
            </a:r>
            <a:r>
              <a:rPr lang="ru-RU" altLang="ru-RU" sz="2000" dirty="0" err="1"/>
              <a:t>both</a:t>
            </a:r>
            <a:r>
              <a:rPr lang="ru-RU" altLang="ru-RU" sz="2000" dirty="0"/>
              <a:t>] [</a:t>
            </a:r>
            <a:r>
              <a:rPr lang="ru-RU" altLang="ru-RU" sz="2000" dirty="0" err="1"/>
              <a:t>characters</a:t>
            </a:r>
            <a:r>
              <a:rPr lang="ru-RU" altLang="ru-RU" sz="2000" dirty="0"/>
              <a:t>] </a:t>
            </a:r>
            <a:r>
              <a:rPr lang="ru-RU" altLang="ru-RU" sz="2000" dirty="0" err="1"/>
              <a:t>from</a:t>
            </a:r>
            <a:r>
              <a:rPr lang="ru-RU" altLang="ru-RU" sz="2000" dirty="0"/>
              <a:t> </a:t>
            </a:r>
            <a:r>
              <a:rPr lang="ru-RU" altLang="ru-RU" sz="2000" dirty="0" err="1"/>
              <a:t>string</a:t>
            </a:r>
            <a:r>
              <a:rPr lang="ru-RU" altLang="ru-RU" sz="2000" dirty="0"/>
              <a:t>) </a:t>
            </a:r>
            <a:r>
              <a:rPr lang="en-US" sz="2000" dirty="0"/>
              <a:t> – </a:t>
            </a:r>
            <a:r>
              <a:rPr lang="ru-RU" sz="2000" dirty="0"/>
              <a:t>у</a:t>
            </a:r>
            <a:r>
              <a:rPr lang="ru-RU" altLang="ru-RU" sz="2000" dirty="0"/>
              <a:t>даляет наибольшую подстроку, содержащую только символы </a:t>
            </a:r>
            <a:r>
              <a:rPr lang="ru-RU" altLang="ru-RU" sz="2000" dirty="0" err="1"/>
              <a:t>characters</a:t>
            </a:r>
            <a:r>
              <a:rPr lang="ru-RU" altLang="ru-RU" sz="2000" dirty="0"/>
              <a:t> (по умолчанию пробелы), с начала (</a:t>
            </a:r>
            <a:r>
              <a:rPr lang="ru-RU" altLang="ru-RU" sz="2000" dirty="0" err="1"/>
              <a:t>leading</a:t>
            </a:r>
            <a:r>
              <a:rPr lang="ru-RU" altLang="ru-RU" sz="2000" dirty="0"/>
              <a:t>), с конца (</a:t>
            </a:r>
            <a:r>
              <a:rPr lang="ru-RU" altLang="ru-RU" sz="2000" dirty="0" err="1"/>
              <a:t>trailing</a:t>
            </a:r>
            <a:r>
              <a:rPr lang="ru-RU" altLang="ru-RU" sz="2000" dirty="0"/>
              <a:t>) или с обеих сторон (</a:t>
            </a:r>
            <a:r>
              <a:rPr lang="ru-RU" altLang="ru-RU" sz="2000" dirty="0" err="1"/>
              <a:t>both</a:t>
            </a:r>
            <a:r>
              <a:rPr lang="ru-RU" altLang="ru-RU" sz="2000" dirty="0"/>
              <a:t>, (по умолчанию)) строки </a:t>
            </a:r>
            <a:r>
              <a:rPr lang="ru-RU" altLang="ru-RU" sz="2000" dirty="0" err="1"/>
              <a:t>string</a:t>
            </a:r>
            <a:r>
              <a:rPr lang="en-US" sz="2000" dirty="0"/>
              <a:t>.</a:t>
            </a:r>
            <a:endParaRPr lang="ru-RU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altLang="ru-RU" sz="2000" dirty="0" smtClean="0"/>
              <a:t>position</a:t>
            </a:r>
            <a:r>
              <a:rPr lang="ru-RU" altLang="ru-RU" sz="2000" dirty="0" smtClean="0"/>
              <a:t>(</a:t>
            </a:r>
            <a:r>
              <a:rPr lang="en-US" altLang="ru-RU" sz="2000" dirty="0" smtClean="0"/>
              <a:t> </a:t>
            </a:r>
            <a:r>
              <a:rPr lang="ru-RU" altLang="ru-RU" sz="2000" dirty="0" err="1" smtClean="0"/>
              <a:t>substring</a:t>
            </a:r>
            <a:r>
              <a:rPr lang="ru-RU" altLang="ru-RU" sz="2000" dirty="0" smtClean="0"/>
              <a:t> </a:t>
            </a:r>
            <a:r>
              <a:rPr lang="ru-RU" altLang="ru-RU" sz="2000" dirty="0" err="1"/>
              <a:t>in</a:t>
            </a:r>
            <a:r>
              <a:rPr lang="ru-RU" altLang="ru-RU" sz="2000" dirty="0"/>
              <a:t> </a:t>
            </a:r>
            <a:r>
              <a:rPr lang="ru-RU" altLang="ru-RU" sz="2000" dirty="0" err="1" smtClean="0"/>
              <a:t>string</a:t>
            </a:r>
            <a:r>
              <a:rPr lang="en-US" altLang="ru-RU" sz="2000" dirty="0" smtClean="0"/>
              <a:t> </a:t>
            </a:r>
            <a:r>
              <a:rPr lang="ru-RU" altLang="ru-RU" sz="2000" dirty="0" smtClean="0"/>
              <a:t>)</a:t>
            </a:r>
            <a:r>
              <a:rPr lang="en-US" altLang="ru-RU" sz="2000" dirty="0" smtClean="0"/>
              <a:t> – </a:t>
            </a:r>
            <a:r>
              <a:rPr lang="ru-RU" altLang="ru-RU" sz="2000" dirty="0" smtClean="0"/>
              <a:t>п</a:t>
            </a:r>
            <a:r>
              <a:rPr lang="ru-RU" sz="2000" dirty="0" smtClean="0"/>
              <a:t>оложение </a:t>
            </a:r>
            <a:r>
              <a:rPr lang="ru-RU" sz="2000" dirty="0"/>
              <a:t>указанной </a:t>
            </a:r>
            <a:r>
              <a:rPr lang="ru-RU" sz="2000" dirty="0" smtClean="0"/>
              <a:t>подстроки.</a:t>
            </a:r>
            <a:endParaRPr lang="ru-RU" altLang="ru-RU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left( </a:t>
            </a:r>
            <a:r>
              <a:rPr lang="en-US" altLang="ru-RU" sz="2000" dirty="0" smtClean="0"/>
              <a:t>string</a:t>
            </a:r>
            <a:r>
              <a:rPr lang="ru-RU" altLang="ru-RU" sz="2000" dirty="0" smtClean="0"/>
              <a:t> </a:t>
            </a:r>
            <a:r>
              <a:rPr lang="ru-RU" altLang="ru-RU" sz="2000" dirty="0"/>
              <a:t>, </a:t>
            </a:r>
            <a:r>
              <a:rPr lang="en-US" altLang="ru-RU" sz="2000" dirty="0" smtClean="0"/>
              <a:t>int</a:t>
            </a:r>
            <a:r>
              <a:rPr lang="ru-RU" altLang="ru-RU" sz="2000" dirty="0" smtClean="0"/>
              <a:t> </a:t>
            </a:r>
            <a:r>
              <a:rPr lang="en-US" sz="2000" dirty="0"/>
              <a:t>) – </a:t>
            </a:r>
            <a:r>
              <a:rPr lang="ru-RU" sz="2000" dirty="0"/>
              <a:t>вырезает с начала строки определенное количество символов. 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right( </a:t>
            </a:r>
            <a:r>
              <a:rPr lang="en-US" altLang="ru-RU" sz="2000" dirty="0" smtClean="0"/>
              <a:t>string</a:t>
            </a:r>
            <a:r>
              <a:rPr lang="ru-RU" altLang="ru-RU" sz="2000" dirty="0" smtClean="0"/>
              <a:t> </a:t>
            </a:r>
            <a:r>
              <a:rPr lang="ru-RU" altLang="ru-RU" sz="2000" dirty="0"/>
              <a:t>, </a:t>
            </a:r>
            <a:r>
              <a:rPr lang="en-US" altLang="ru-RU" sz="2000" dirty="0" smtClean="0"/>
              <a:t>int</a:t>
            </a:r>
            <a:r>
              <a:rPr lang="ru-RU" altLang="ru-RU" sz="2000" dirty="0" smtClean="0"/>
              <a:t> </a:t>
            </a:r>
            <a:r>
              <a:rPr lang="en-US" sz="2000" dirty="0"/>
              <a:t>) – </a:t>
            </a:r>
            <a:r>
              <a:rPr lang="ru-RU" sz="2000" dirty="0"/>
              <a:t>вырезает с конца строки определенное количество символов. 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 err="1" smtClean="0"/>
              <a:t>substring</a:t>
            </a:r>
            <a:r>
              <a:rPr lang="en-US" sz="2000" dirty="0" smtClean="0"/>
              <a:t>( </a:t>
            </a:r>
            <a:r>
              <a:rPr lang="en-US" altLang="ru-RU" sz="2000" dirty="0" smtClean="0"/>
              <a:t>string</a:t>
            </a:r>
            <a:r>
              <a:rPr lang="en-US" altLang="ru-RU" sz="2000" dirty="0"/>
              <a:t> </a:t>
            </a:r>
            <a:r>
              <a:rPr lang="en-US" altLang="ru-RU" sz="2000" dirty="0" smtClean="0"/>
              <a:t>from </a:t>
            </a:r>
            <a:r>
              <a:rPr lang="ru-RU" altLang="ru-RU" sz="2000" dirty="0" err="1" smtClean="0"/>
              <a:t>star</a:t>
            </a:r>
            <a:r>
              <a:rPr lang="en-US" altLang="ru-RU" sz="2000" dirty="0" smtClean="0"/>
              <a:t>t for</a:t>
            </a:r>
            <a:r>
              <a:rPr lang="ru-RU" altLang="ru-RU" sz="2000" dirty="0" smtClean="0"/>
              <a:t> </a:t>
            </a:r>
            <a:r>
              <a:rPr lang="ru-RU" altLang="ru-RU" sz="2000" dirty="0" err="1"/>
              <a:t>length</a:t>
            </a:r>
            <a:r>
              <a:rPr lang="ru-RU" altLang="ru-RU" sz="2000" dirty="0"/>
              <a:t> </a:t>
            </a:r>
            <a:r>
              <a:rPr lang="en-US" sz="2000" dirty="0"/>
              <a:t>) – </a:t>
            </a:r>
            <a:r>
              <a:rPr lang="ru-RU" sz="2000" dirty="0"/>
              <a:t>вырезает из строки подстроку определенной длиной, начиная с определенного индекса.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ru-RU" sz="2000" dirty="0" err="1" smtClean="0"/>
              <a:t>replace</a:t>
            </a:r>
            <a:r>
              <a:rPr lang="en-US" sz="2000" dirty="0" smtClean="0"/>
              <a:t>( </a:t>
            </a:r>
            <a:r>
              <a:rPr lang="en-US" altLang="ru-RU" sz="2000" dirty="0" smtClean="0"/>
              <a:t>string</a:t>
            </a:r>
            <a:r>
              <a:rPr lang="ru-RU" altLang="ru-RU" sz="2000" dirty="0" smtClean="0"/>
              <a:t> </a:t>
            </a:r>
            <a:r>
              <a:rPr lang="ru-RU" altLang="ru-RU" sz="2000" dirty="0"/>
              <a:t>, </a:t>
            </a:r>
            <a:r>
              <a:rPr lang="en-US" altLang="ru-RU" sz="2000" dirty="0" smtClean="0"/>
              <a:t>from</a:t>
            </a:r>
            <a:r>
              <a:rPr lang="ru-RU" altLang="ru-RU" sz="2000" dirty="0" smtClean="0"/>
              <a:t>,</a:t>
            </a:r>
            <a:r>
              <a:rPr lang="en-US" altLang="ru-RU" sz="2000" dirty="0" smtClean="0"/>
              <a:t> to </a:t>
            </a:r>
            <a:r>
              <a:rPr lang="en-US" sz="2000" dirty="0" smtClean="0"/>
              <a:t>) </a:t>
            </a:r>
            <a:r>
              <a:rPr lang="en-US" sz="2000" dirty="0"/>
              <a:t>– </a:t>
            </a:r>
            <a:r>
              <a:rPr lang="ru-RU" sz="2000" dirty="0"/>
              <a:t>заменяет одну подстроку другой</a:t>
            </a:r>
            <a:r>
              <a:rPr lang="en-US" sz="2000" dirty="0"/>
              <a:t>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reverse( </a:t>
            </a:r>
            <a:r>
              <a:rPr lang="en-US" altLang="ru-RU" sz="2000" dirty="0" smtClean="0"/>
              <a:t>string </a:t>
            </a:r>
            <a:r>
              <a:rPr lang="en-US" sz="2000" dirty="0"/>
              <a:t>) – </a:t>
            </a:r>
            <a:r>
              <a:rPr lang="ru-RU" sz="2000" dirty="0"/>
              <a:t>переворачивает строку наоборот</a:t>
            </a:r>
            <a:r>
              <a:rPr lang="en-US" sz="20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lower( </a:t>
            </a:r>
            <a:r>
              <a:rPr lang="en-US" altLang="ru-RU" sz="2000" dirty="0"/>
              <a:t>string </a:t>
            </a:r>
            <a:r>
              <a:rPr lang="en-US" sz="2000" dirty="0"/>
              <a:t>) – </a:t>
            </a:r>
            <a:r>
              <a:rPr lang="ru-RU" sz="2000" dirty="0" smtClean="0"/>
              <a:t>переводит </a:t>
            </a:r>
            <a:r>
              <a:rPr lang="ru-RU" sz="2000" dirty="0"/>
              <a:t>строку </a:t>
            </a:r>
            <a:r>
              <a:rPr lang="ru-RU" sz="2000" dirty="0" smtClean="0"/>
              <a:t>в нижний регистр</a:t>
            </a:r>
            <a:r>
              <a:rPr lang="en-US" sz="2000" dirty="0" smtClean="0"/>
              <a:t>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US" sz="2000" dirty="0" smtClean="0"/>
              <a:t>upper( </a:t>
            </a:r>
            <a:r>
              <a:rPr lang="en-US" altLang="ru-RU" sz="2000" dirty="0"/>
              <a:t>string </a:t>
            </a:r>
            <a:r>
              <a:rPr lang="en-US" sz="2000" dirty="0"/>
              <a:t>) – </a:t>
            </a:r>
            <a:r>
              <a:rPr lang="ru-RU" sz="2000" dirty="0"/>
              <a:t>переводит</a:t>
            </a:r>
            <a:r>
              <a:rPr lang="ru-RU" sz="2000" dirty="0" smtClean="0"/>
              <a:t> </a:t>
            </a:r>
            <a:r>
              <a:rPr lang="ru-RU" sz="2000" dirty="0"/>
              <a:t>строку </a:t>
            </a:r>
            <a:r>
              <a:rPr lang="ru-RU" sz="2000" dirty="0" smtClean="0"/>
              <a:t>в верхний регистр</a:t>
            </a:r>
            <a:r>
              <a:rPr lang="en-US" sz="2000" dirty="0" smtClean="0"/>
              <a:t>.</a:t>
            </a:r>
          </a:p>
          <a:p>
            <a:pPr marL="457200" indent="-457200">
              <a:buFont typeface="+mj-lt"/>
              <a:buAutoNum type="arabicPeriod" startAt="11"/>
            </a:pPr>
            <a:r>
              <a:rPr lang="ru-RU" sz="2000" dirty="0" err="1" smtClean="0"/>
              <a:t>concat</a:t>
            </a:r>
            <a:r>
              <a:rPr lang="en-US" sz="2000" dirty="0" smtClean="0"/>
              <a:t>( </a:t>
            </a:r>
            <a:r>
              <a:rPr lang="ru-RU" altLang="ru-RU" sz="2000" dirty="0"/>
              <a:t>argument1 , argument2 [ , </a:t>
            </a:r>
            <a:r>
              <a:rPr lang="ru-RU" altLang="ru-RU" sz="2000" dirty="0" err="1"/>
              <a:t>argumentN</a:t>
            </a:r>
            <a:r>
              <a:rPr lang="ru-RU" altLang="ru-RU" sz="2000" dirty="0"/>
              <a:t> ] ...</a:t>
            </a:r>
            <a:r>
              <a:rPr lang="en-US" altLang="ru-RU" sz="2000" dirty="0"/>
              <a:t> </a:t>
            </a:r>
            <a:r>
              <a:rPr lang="en-US" sz="2000" dirty="0"/>
              <a:t>) – </a:t>
            </a:r>
            <a:r>
              <a:rPr lang="ru-RU" sz="2000" dirty="0"/>
              <a:t>объединяет несколько строк в одну.</a:t>
            </a: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 startAt="11"/>
            </a:pPr>
            <a:r>
              <a:rPr lang="ru-RU" sz="2000" dirty="0" err="1" smtClean="0"/>
              <a:t>concat</a:t>
            </a:r>
            <a:r>
              <a:rPr lang="en-US" sz="2000" dirty="0" smtClean="0"/>
              <a:t>_</a:t>
            </a:r>
            <a:r>
              <a:rPr lang="en-US" sz="2000" dirty="0" err="1" smtClean="0"/>
              <a:t>ws</a:t>
            </a:r>
            <a:r>
              <a:rPr lang="en-US" sz="2000" dirty="0" smtClean="0"/>
              <a:t>( </a:t>
            </a:r>
            <a:r>
              <a:rPr lang="ru-RU" altLang="ru-RU" sz="2000" dirty="0" err="1"/>
              <a:t>separator</a:t>
            </a:r>
            <a:r>
              <a:rPr lang="ru-RU" altLang="ru-RU" sz="2000" dirty="0"/>
              <a:t> , argument1 , argument2 [ , </a:t>
            </a:r>
            <a:r>
              <a:rPr lang="ru-RU" altLang="ru-RU" sz="2000" dirty="0" err="1"/>
              <a:t>argumentN</a:t>
            </a:r>
            <a:r>
              <a:rPr lang="ru-RU" altLang="ru-RU" sz="2000" dirty="0"/>
              <a:t> ] ...</a:t>
            </a:r>
            <a:r>
              <a:rPr lang="en-US" altLang="ru-RU" sz="2000" dirty="0"/>
              <a:t> </a:t>
            </a:r>
            <a:r>
              <a:rPr lang="en-US" sz="2000" dirty="0"/>
              <a:t>) – </a:t>
            </a:r>
            <a:r>
              <a:rPr lang="ru-RU" sz="2000" dirty="0"/>
              <a:t>объединяет несколько строк в одну</a:t>
            </a:r>
            <a:r>
              <a:rPr lang="en-US" sz="2000" dirty="0"/>
              <a:t> </a:t>
            </a:r>
            <a:r>
              <a:rPr lang="ru-RU" sz="2000" dirty="0"/>
              <a:t>с использованием разделителя.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ru-RU" sz="20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91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Системные функции (строки)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endParaRPr lang="ru-RU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13"/>
            </a:pPr>
            <a:r>
              <a:rPr lang="en-US" sz="2000" dirty="0" smtClean="0"/>
              <a:t>md5</a:t>
            </a:r>
            <a:r>
              <a:rPr lang="ru-RU" sz="2000" dirty="0" smtClean="0"/>
              <a:t>(</a:t>
            </a:r>
            <a:r>
              <a:rPr lang="en-US" sz="2000" dirty="0" smtClean="0"/>
              <a:t> </a:t>
            </a:r>
            <a:r>
              <a:rPr lang="en-US" altLang="ru-RU" sz="2000" dirty="0"/>
              <a:t>string </a:t>
            </a:r>
            <a:r>
              <a:rPr lang="ru-RU" sz="2000" dirty="0"/>
              <a:t>) – в</a:t>
            </a:r>
            <a:r>
              <a:rPr lang="ru-RU" altLang="ru-RU" sz="2000" dirty="0" smtClean="0"/>
              <a:t>ычисляет </a:t>
            </a:r>
            <a:r>
              <a:rPr lang="ru-RU" altLang="ru-RU" sz="2000" dirty="0"/>
              <a:t>MD5-хеш строки </a:t>
            </a:r>
            <a:r>
              <a:rPr lang="ru-RU" altLang="ru-RU" sz="2000" dirty="0" err="1"/>
              <a:t>string</a:t>
            </a:r>
            <a:r>
              <a:rPr lang="ru-RU" altLang="ru-RU" sz="2000" dirty="0"/>
              <a:t> и возвращает результат в 16-ричном </a:t>
            </a:r>
            <a:r>
              <a:rPr lang="ru-RU" altLang="ru-RU" sz="2000" dirty="0" smtClean="0"/>
              <a:t>виде</a:t>
            </a:r>
            <a:r>
              <a:rPr lang="ru-RU" sz="2000" dirty="0" smtClean="0"/>
              <a:t>.</a:t>
            </a:r>
            <a:endParaRPr lang="ru-RU" sz="2000" dirty="0"/>
          </a:p>
          <a:p>
            <a:pPr marL="457200" indent="-457200">
              <a:buFont typeface="Arial" panose="020B0604020202020204" pitchFamily="34" charset="0"/>
              <a:buAutoNum type="arabicPeriod" startAt="13"/>
            </a:pPr>
            <a:r>
              <a:rPr lang="en-US" sz="2000" dirty="0" smtClean="0"/>
              <a:t>repeat</a:t>
            </a:r>
            <a:r>
              <a:rPr lang="ru-RU" sz="2000" dirty="0" smtClean="0"/>
              <a:t>(</a:t>
            </a:r>
            <a:r>
              <a:rPr lang="en-US" sz="2000" dirty="0" smtClean="0"/>
              <a:t> </a:t>
            </a:r>
            <a:r>
              <a:rPr lang="en-US" altLang="ru-RU" sz="2000" dirty="0" smtClean="0"/>
              <a:t>string, number </a:t>
            </a:r>
            <a:r>
              <a:rPr lang="ru-RU" sz="2000" dirty="0"/>
              <a:t>) – п</a:t>
            </a:r>
            <a:r>
              <a:rPr lang="ru-RU" altLang="ru-RU" sz="2000" dirty="0" smtClean="0"/>
              <a:t>овторяет </a:t>
            </a:r>
            <a:r>
              <a:rPr lang="ru-RU" altLang="ru-RU" sz="2000" dirty="0"/>
              <a:t>содержимое </a:t>
            </a:r>
            <a:r>
              <a:rPr lang="ru-RU" altLang="ru-RU" sz="2000" dirty="0" err="1"/>
              <a:t>string</a:t>
            </a:r>
            <a:r>
              <a:rPr lang="ru-RU" altLang="ru-RU" sz="2000" dirty="0"/>
              <a:t> указанное число (</a:t>
            </a:r>
            <a:r>
              <a:rPr lang="ru-RU" altLang="ru-RU" sz="2000" dirty="0" err="1"/>
              <a:t>number</a:t>
            </a:r>
            <a:r>
              <a:rPr lang="ru-RU" altLang="ru-RU" sz="2000" dirty="0"/>
              <a:t>) </a:t>
            </a:r>
            <a:r>
              <a:rPr lang="ru-RU" altLang="ru-RU" sz="2000" dirty="0" smtClean="0"/>
              <a:t>раз</a:t>
            </a:r>
            <a:r>
              <a:rPr lang="ru-RU" sz="2000" dirty="0" smtClean="0"/>
              <a:t>.</a:t>
            </a:r>
            <a:endParaRPr lang="ru-RU" sz="2000" dirty="0"/>
          </a:p>
          <a:p>
            <a:pPr marL="457200" indent="-457200">
              <a:buFont typeface="Arial" panose="020B0604020202020204" pitchFamily="34" charset="0"/>
              <a:buAutoNum type="arabicPeriod" startAt="13"/>
            </a:pPr>
            <a:r>
              <a:rPr lang="en-US" sz="2000" dirty="0" err="1" smtClean="0"/>
              <a:t>split_part</a:t>
            </a:r>
            <a:r>
              <a:rPr lang="ru-RU" sz="2000" dirty="0" smtClean="0"/>
              <a:t>(</a:t>
            </a:r>
            <a:r>
              <a:rPr lang="en-US" sz="2000" dirty="0" smtClean="0"/>
              <a:t> </a:t>
            </a:r>
            <a:r>
              <a:rPr lang="en-US" altLang="ru-RU" sz="2000" dirty="0"/>
              <a:t>string, delimiter, field</a:t>
            </a:r>
            <a:r>
              <a:rPr lang="ru-RU" sz="2000" dirty="0"/>
              <a:t>) – р</a:t>
            </a:r>
            <a:r>
              <a:rPr lang="ru-RU" altLang="ru-RU" sz="2000" dirty="0" smtClean="0"/>
              <a:t>азделяет </a:t>
            </a:r>
            <a:r>
              <a:rPr lang="ru-RU" altLang="ru-RU" sz="2000" dirty="0"/>
              <a:t>строку </a:t>
            </a:r>
            <a:r>
              <a:rPr lang="ru-RU" altLang="ru-RU" sz="2000" dirty="0" err="1"/>
              <a:t>string</a:t>
            </a:r>
            <a:r>
              <a:rPr lang="ru-RU" altLang="ru-RU" sz="2000" dirty="0"/>
              <a:t> по символу </a:t>
            </a:r>
            <a:r>
              <a:rPr lang="ru-RU" altLang="ru-RU" sz="2000" dirty="0" err="1"/>
              <a:t>delimiter</a:t>
            </a:r>
            <a:r>
              <a:rPr lang="ru-RU" altLang="ru-RU" sz="2000" dirty="0"/>
              <a:t> и возвращает элемент по заданному номеру (считая с 1</a:t>
            </a:r>
            <a:r>
              <a:rPr lang="ru-RU" altLang="ru-RU" sz="2000" dirty="0" smtClean="0"/>
              <a:t>)</a:t>
            </a:r>
            <a:r>
              <a:rPr lang="en-US" altLang="ru-RU" sz="2000" dirty="0"/>
              <a:t>.</a:t>
            </a:r>
            <a:endParaRPr lang="ru-RU" sz="2000" dirty="0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48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Системные функции (даты)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endParaRPr lang="ru-RU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now</a:t>
            </a:r>
            <a:r>
              <a:rPr lang="ru-RU" sz="2000" dirty="0"/>
              <a:t>() – возвращает текущую дату и время.</a:t>
            </a:r>
            <a:r>
              <a:rPr lang="en-US" sz="2000" dirty="0"/>
              <a:t> </a:t>
            </a:r>
            <a:r>
              <a:rPr lang="ru-RU" sz="2000" dirty="0"/>
              <a:t>Также можно использовать операторы: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altLang="ru-RU" sz="1800" dirty="0" smtClean="0"/>
              <a:t>CURRENT_DATE – текущая дата.</a:t>
            </a:r>
            <a:endParaRPr lang="ru-RU" altLang="ru-RU" sz="1800" dirty="0"/>
          </a:p>
          <a:p>
            <a:pPr marL="914400" lvl="1" indent="-457200">
              <a:buFont typeface="+mj-lt"/>
              <a:buAutoNum type="arabicPeriod"/>
            </a:pPr>
            <a:r>
              <a:rPr lang="ru-RU" altLang="ru-RU" sz="1800" dirty="0" smtClean="0"/>
              <a:t>CURRENT_TIME – текущее время с часовым поясом.</a:t>
            </a:r>
            <a:endParaRPr lang="ru-RU" altLang="ru-RU" sz="1800" dirty="0"/>
          </a:p>
          <a:p>
            <a:pPr marL="914400" lvl="1" indent="-457200">
              <a:buFont typeface="+mj-lt"/>
              <a:buAutoNum type="arabicPeriod"/>
            </a:pPr>
            <a:r>
              <a:rPr lang="ru-RU" altLang="ru-RU" sz="1800" dirty="0"/>
              <a:t>CURRENT_TIMESTAMP </a:t>
            </a:r>
            <a:r>
              <a:rPr lang="ru-RU" altLang="ru-RU" sz="1800" dirty="0" smtClean="0"/>
              <a:t> - текущая дата и время с часовым поясом.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ru-RU" sz="1800" dirty="0" smtClean="0"/>
              <a:t>LOCALTIME</a:t>
            </a:r>
            <a:r>
              <a:rPr lang="ru-RU" altLang="ru-RU" sz="1800" dirty="0" smtClean="0"/>
              <a:t> – </a:t>
            </a:r>
            <a:r>
              <a:rPr lang="ru-RU" altLang="ru-RU" sz="1800" dirty="0"/>
              <a:t>текущее время </a:t>
            </a:r>
            <a:r>
              <a:rPr lang="ru-RU" altLang="ru-RU" sz="1800" dirty="0" smtClean="0"/>
              <a:t>без часового пояса.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ru-RU" sz="1800" dirty="0" smtClean="0"/>
              <a:t>LOCALTIMESTAMP</a:t>
            </a:r>
            <a:r>
              <a:rPr lang="ru-RU" altLang="ru-RU" sz="1800" dirty="0"/>
              <a:t> </a:t>
            </a:r>
            <a:r>
              <a:rPr lang="ru-RU" altLang="ru-RU" sz="1800" dirty="0" smtClean="0"/>
              <a:t>– текущая дата и время </a:t>
            </a:r>
            <a:r>
              <a:rPr lang="ru-RU" altLang="ru-RU" sz="1800" dirty="0"/>
              <a:t>без часового </a:t>
            </a:r>
            <a:r>
              <a:rPr lang="ru-RU" altLang="ru-RU" sz="1800" dirty="0" smtClean="0"/>
              <a:t>пояса.</a:t>
            </a:r>
            <a:endParaRPr lang="ru-RU" sz="16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timeofday</a:t>
            </a:r>
            <a:r>
              <a:rPr lang="en-US" sz="2000" dirty="0" smtClean="0"/>
              <a:t>( )</a:t>
            </a:r>
            <a:r>
              <a:rPr lang="ru-RU" sz="2000" dirty="0" smtClean="0"/>
              <a:t> </a:t>
            </a:r>
            <a:r>
              <a:rPr lang="ru-RU" sz="2000" dirty="0"/>
              <a:t>– </a:t>
            </a:r>
            <a:r>
              <a:rPr lang="ru-RU" sz="2000" dirty="0" smtClean="0"/>
              <a:t>текущая </a:t>
            </a:r>
            <a:r>
              <a:rPr lang="ru-RU" sz="2000" dirty="0"/>
              <a:t>дата и </a:t>
            </a:r>
            <a:r>
              <a:rPr lang="ru-RU" sz="2000" dirty="0" smtClean="0"/>
              <a:t>время, </a:t>
            </a:r>
            <a:r>
              <a:rPr lang="ru-RU" sz="2000" dirty="0"/>
              <a:t>но в виде строки типа </a:t>
            </a:r>
            <a:r>
              <a:rPr lang="ru-RU" sz="2000" dirty="0" err="1" smtClean="0"/>
              <a:t>text</a:t>
            </a:r>
            <a:r>
              <a:rPr lang="ru-RU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 smtClean="0"/>
              <a:t>date_add</a:t>
            </a:r>
            <a:r>
              <a:rPr lang="en-US" sz="2000" dirty="0" smtClean="0"/>
              <a:t> </a:t>
            </a:r>
            <a:r>
              <a:rPr lang="en-US" sz="2000" dirty="0"/>
              <a:t>( timestamp with time zone, interval [, text] </a:t>
            </a:r>
            <a:r>
              <a:rPr lang="en-US" sz="2000" dirty="0" smtClean="0"/>
              <a:t>)</a:t>
            </a:r>
            <a:r>
              <a:rPr lang="ru-RU" sz="2000" dirty="0" smtClean="0"/>
              <a:t> </a:t>
            </a:r>
            <a:r>
              <a:rPr lang="ru-RU" sz="2000" dirty="0"/>
              <a:t>– д</a:t>
            </a:r>
            <a:r>
              <a:rPr lang="ru-RU" sz="2000" dirty="0" smtClean="0"/>
              <a:t>обавляет </a:t>
            </a:r>
            <a:r>
              <a:rPr lang="ru-RU" sz="2000" dirty="0"/>
              <a:t>значение типа </a:t>
            </a:r>
            <a:r>
              <a:rPr lang="ru-RU" sz="2000" dirty="0" err="1"/>
              <a:t>interval</a:t>
            </a:r>
            <a:r>
              <a:rPr lang="ru-RU" sz="2000" dirty="0"/>
              <a:t> к значению типа </a:t>
            </a:r>
            <a:r>
              <a:rPr lang="ru-RU" sz="2000" dirty="0" err="1"/>
              <a:t>timestamp</a:t>
            </a:r>
            <a:r>
              <a:rPr lang="ru-RU" sz="2000" dirty="0"/>
              <a:t> </a:t>
            </a:r>
            <a:r>
              <a:rPr lang="ru-RU" sz="2000" dirty="0" err="1"/>
              <a:t>with</a:t>
            </a:r>
            <a:r>
              <a:rPr lang="ru-RU" sz="2000" dirty="0"/>
              <a:t> </a:t>
            </a:r>
            <a:r>
              <a:rPr lang="ru-RU" sz="2000" dirty="0" err="1"/>
              <a:t>time</a:t>
            </a:r>
            <a:r>
              <a:rPr lang="ru-RU" sz="2000" dirty="0"/>
              <a:t> </a:t>
            </a:r>
            <a:r>
              <a:rPr lang="ru-RU" sz="2000" dirty="0" err="1"/>
              <a:t>zone</a:t>
            </a:r>
            <a:r>
              <a:rPr lang="ru-RU" sz="2000" dirty="0"/>
              <a:t>, вычисляя время суток и корректировки перехода на летнее время в соответствии с часовым поясом, указанным в третьем </a:t>
            </a:r>
            <a:r>
              <a:rPr lang="ru-RU" sz="2000" dirty="0" smtClean="0"/>
              <a:t>аргументе.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date_subtract</a:t>
            </a:r>
            <a:r>
              <a:rPr lang="en-US" sz="2000" dirty="0"/>
              <a:t> ( timestamp with time zone, interval [, text] </a:t>
            </a:r>
            <a:r>
              <a:rPr lang="en-US" sz="2000" dirty="0" smtClean="0"/>
              <a:t>) </a:t>
            </a:r>
            <a:r>
              <a:rPr lang="ru-RU" sz="2000" dirty="0" smtClean="0"/>
              <a:t>–</a:t>
            </a:r>
            <a:r>
              <a:rPr lang="en-US" sz="2000" dirty="0" smtClean="0"/>
              <a:t> </a:t>
            </a:r>
            <a:r>
              <a:rPr lang="ru-RU" sz="2000" dirty="0"/>
              <a:t>в</a:t>
            </a:r>
            <a:r>
              <a:rPr lang="ru-RU" sz="2000" dirty="0" smtClean="0"/>
              <a:t>ычитает </a:t>
            </a:r>
            <a:r>
              <a:rPr lang="ru-RU" sz="2000" dirty="0"/>
              <a:t>значение типа </a:t>
            </a:r>
            <a:r>
              <a:rPr lang="en-US" sz="2000" dirty="0"/>
              <a:t>interval </a:t>
            </a:r>
            <a:r>
              <a:rPr lang="ru-RU" sz="2000" dirty="0"/>
              <a:t>из значения типа </a:t>
            </a:r>
            <a:r>
              <a:rPr lang="en-US" sz="2000" dirty="0"/>
              <a:t>timestamp with time zone</a:t>
            </a:r>
            <a:r>
              <a:rPr lang="ru-RU" sz="2000" dirty="0" smtClean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age ( timestamp, timestamp </a:t>
            </a:r>
            <a:r>
              <a:rPr lang="en-US" sz="2000" dirty="0" smtClean="0"/>
              <a:t>)</a:t>
            </a:r>
            <a:r>
              <a:rPr lang="ru-RU" sz="2000" dirty="0" smtClean="0"/>
              <a:t> </a:t>
            </a:r>
            <a:r>
              <a:rPr lang="ru-RU" sz="2000" dirty="0"/>
              <a:t>– </a:t>
            </a:r>
            <a:r>
              <a:rPr lang="ru-RU" sz="2000" dirty="0" smtClean="0"/>
              <a:t>вычитает </a:t>
            </a:r>
            <a:r>
              <a:rPr lang="ru-RU" sz="2000" dirty="0"/>
              <a:t>аргументы и выдаёт </a:t>
            </a:r>
            <a:r>
              <a:rPr lang="ru-RU" sz="2000" dirty="0" smtClean="0"/>
              <a:t>результат в виде интервала.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make_date</a:t>
            </a:r>
            <a:r>
              <a:rPr lang="en-US" sz="2000" dirty="0"/>
              <a:t> ( year int, month int, day int </a:t>
            </a:r>
            <a:r>
              <a:rPr lang="en-US" sz="2000" dirty="0" smtClean="0"/>
              <a:t>)</a:t>
            </a:r>
            <a:r>
              <a:rPr lang="ru-RU" sz="2000" dirty="0" smtClean="0"/>
              <a:t> </a:t>
            </a:r>
            <a:r>
              <a:rPr lang="ru-RU" sz="2000" dirty="0"/>
              <a:t>– </a:t>
            </a:r>
            <a:r>
              <a:rPr lang="ru-RU" sz="2000" dirty="0" smtClean="0"/>
              <a:t>образует </a:t>
            </a:r>
            <a:r>
              <a:rPr lang="ru-RU" sz="2000" dirty="0"/>
              <a:t>дату из полей: </a:t>
            </a:r>
            <a:r>
              <a:rPr lang="ru-RU" sz="2000" dirty="0" err="1"/>
              <a:t>year</a:t>
            </a:r>
            <a:r>
              <a:rPr lang="ru-RU" sz="2000" dirty="0"/>
              <a:t> (год), </a:t>
            </a:r>
            <a:r>
              <a:rPr lang="ru-RU" sz="2000" dirty="0" err="1"/>
              <a:t>month</a:t>
            </a:r>
            <a:r>
              <a:rPr lang="ru-RU" sz="2000" dirty="0"/>
              <a:t> (месяц) и </a:t>
            </a:r>
            <a:r>
              <a:rPr lang="ru-RU" sz="2000" dirty="0" err="1"/>
              <a:t>day</a:t>
            </a:r>
            <a:r>
              <a:rPr lang="ru-RU" sz="2000" dirty="0"/>
              <a:t> (день) (отрицательное значение поля </a:t>
            </a:r>
            <a:r>
              <a:rPr lang="ru-RU" sz="2000" dirty="0" err="1"/>
              <a:t>year</a:t>
            </a:r>
            <a:r>
              <a:rPr lang="ru-RU" sz="2000" dirty="0"/>
              <a:t> означает год до н. э</a:t>
            </a:r>
            <a:r>
              <a:rPr lang="ru-RU" sz="2000" dirty="0" smtClean="0"/>
              <a:t>.)</a:t>
            </a:r>
            <a:r>
              <a:rPr lang="ru-RU" sz="2000" dirty="0"/>
              <a:t>.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28436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Системные функции (даты)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endParaRPr lang="ru-RU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7"/>
            </a:pPr>
            <a:r>
              <a:rPr lang="en-US" sz="2000" dirty="0"/>
              <a:t>extract ( field from </a:t>
            </a:r>
            <a:r>
              <a:rPr lang="en-US" sz="2000" dirty="0" smtClean="0"/>
              <a:t>timestamp/interval </a:t>
            </a:r>
            <a:r>
              <a:rPr lang="en-US" sz="2000" dirty="0"/>
              <a:t>) </a:t>
            </a:r>
            <a:r>
              <a:rPr lang="ru-RU" sz="2000" dirty="0"/>
              <a:t>– возвращает поле </a:t>
            </a:r>
            <a:r>
              <a:rPr lang="ru-RU" sz="2000" dirty="0" smtClean="0"/>
              <a:t>даты/времени. Для поля возможны значения:</a:t>
            </a:r>
            <a:endParaRPr lang="en-US" sz="20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millennium</a:t>
            </a:r>
            <a:r>
              <a:rPr lang="ru-RU" sz="1600" dirty="0"/>
              <a:t> - тысячелетие; для значений </a:t>
            </a:r>
            <a:r>
              <a:rPr lang="ru-RU" sz="1600" dirty="0" err="1"/>
              <a:t>interval</a:t>
            </a:r>
            <a:r>
              <a:rPr lang="ru-RU" sz="1600" dirty="0"/>
              <a:t> — значение поля года, разделённое на тысячу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century – </a:t>
            </a:r>
            <a:r>
              <a:rPr lang="ru-RU" sz="1600" dirty="0"/>
              <a:t>век; для значений </a:t>
            </a:r>
            <a:r>
              <a:rPr lang="ru-RU" sz="1600" dirty="0" err="1"/>
              <a:t>interval</a:t>
            </a:r>
            <a:r>
              <a:rPr lang="ru-RU" sz="1600" dirty="0"/>
              <a:t> — значение поля года, разделённое на </a:t>
            </a:r>
            <a:r>
              <a:rPr lang="ru-RU" sz="1600" dirty="0" smtClean="0"/>
              <a:t>сто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decade</a:t>
            </a:r>
            <a:r>
              <a:rPr lang="ru-RU" sz="1600" dirty="0"/>
              <a:t> - год, делённый на </a:t>
            </a:r>
            <a:r>
              <a:rPr lang="ru-RU" sz="1600" dirty="0" smtClean="0"/>
              <a:t>10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year - </a:t>
            </a:r>
            <a:r>
              <a:rPr lang="ru-RU" sz="1600" dirty="0"/>
              <a:t>год</a:t>
            </a:r>
            <a:endParaRPr lang="ru-RU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month</a:t>
            </a:r>
            <a:r>
              <a:rPr lang="ru-RU" sz="1600" dirty="0"/>
              <a:t> - номер месяца в году (1–12), а для </a:t>
            </a:r>
            <a:r>
              <a:rPr lang="ru-RU" sz="1600" dirty="0" err="1"/>
              <a:t>interval</a:t>
            </a:r>
            <a:r>
              <a:rPr lang="ru-RU" sz="1600" dirty="0"/>
              <a:t> — остаток от деления числа месяцев на 12 (0–11)</a:t>
            </a:r>
            <a:endParaRPr lang="ru-RU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 smtClean="0"/>
              <a:t>day</a:t>
            </a:r>
            <a:r>
              <a:rPr lang="ru-RU" sz="1600" dirty="0" smtClean="0"/>
              <a:t> </a:t>
            </a:r>
            <a:r>
              <a:rPr lang="ru-RU" sz="1600" dirty="0"/>
              <a:t>- день месяца (1–31); для значений </a:t>
            </a:r>
            <a:r>
              <a:rPr lang="ru-RU" sz="1600" dirty="0" err="1"/>
              <a:t>interval</a:t>
            </a:r>
            <a:r>
              <a:rPr lang="ru-RU" sz="1600" dirty="0"/>
              <a:t> — количество </a:t>
            </a:r>
            <a:r>
              <a:rPr lang="ru-RU" sz="1600" dirty="0" smtClean="0"/>
              <a:t>дней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hour</a:t>
            </a:r>
            <a:r>
              <a:rPr lang="ru-RU" sz="1600" dirty="0"/>
              <a:t> - часы (0–23 в метках времени, в интервалах — без ограничений)</a:t>
            </a:r>
            <a:endParaRPr lang="ru-RU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minute - </a:t>
            </a:r>
            <a:r>
              <a:rPr lang="ru-RU" sz="1600" dirty="0"/>
              <a:t>минуты (0–59</a:t>
            </a:r>
            <a:r>
              <a:rPr lang="ru-RU" sz="16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second</a:t>
            </a:r>
            <a:r>
              <a:rPr lang="ru-RU" sz="1600" dirty="0"/>
              <a:t> - секунды, включая дробную </a:t>
            </a:r>
            <a:r>
              <a:rPr lang="ru-RU" sz="1600" dirty="0" smtClean="0"/>
              <a:t>часть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timezone_hour</a:t>
            </a:r>
            <a:r>
              <a:rPr lang="ru-RU" sz="1600" dirty="0"/>
              <a:t> - поле часов в смещении часового </a:t>
            </a:r>
            <a:r>
              <a:rPr lang="ru-RU" sz="1600" dirty="0" smtClean="0"/>
              <a:t>пояса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timezone_minute</a:t>
            </a:r>
            <a:r>
              <a:rPr lang="ru-RU" sz="1600" dirty="0"/>
              <a:t> - поле минут в смещении часового </a:t>
            </a:r>
            <a:r>
              <a:rPr lang="ru-RU" sz="1600" dirty="0" smtClean="0"/>
              <a:t>пояса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doy</a:t>
            </a:r>
            <a:r>
              <a:rPr lang="en-US" sz="1600" dirty="0"/>
              <a:t> - </a:t>
            </a:r>
            <a:r>
              <a:rPr lang="ru-RU" sz="1600" dirty="0"/>
              <a:t>день года (1–365/366</a:t>
            </a:r>
            <a:r>
              <a:rPr lang="ru-RU" sz="16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quarter</a:t>
            </a:r>
            <a:r>
              <a:rPr lang="ru-RU" sz="1600" dirty="0"/>
              <a:t> - квартал (1–4), к которому относится </a:t>
            </a:r>
            <a:r>
              <a:rPr lang="ru-RU" sz="1600" dirty="0" smtClean="0"/>
              <a:t>дата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week</a:t>
            </a:r>
            <a:r>
              <a:rPr lang="ru-RU" sz="1600" dirty="0"/>
              <a:t> - номер недели в году по недельному календарю</a:t>
            </a:r>
            <a:endParaRPr lang="ru-RU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 smtClean="0"/>
              <a:t>dow</a:t>
            </a:r>
            <a:r>
              <a:rPr lang="ru-RU" sz="1600" dirty="0" smtClean="0"/>
              <a:t> </a:t>
            </a:r>
            <a:r>
              <a:rPr lang="ru-RU" sz="1600" dirty="0"/>
              <a:t>- день недели, считая с воскресенья (0) до субботы (6</a:t>
            </a:r>
            <a:r>
              <a:rPr lang="ru-RU" sz="16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/>
              <a:t>isodow</a:t>
            </a:r>
            <a:r>
              <a:rPr lang="ru-RU" sz="1600" dirty="0"/>
              <a:t> - день недели, считая с понедельника (1) до воскресенья (7)</a:t>
            </a:r>
            <a:endParaRPr lang="ru-RU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ru-RU" sz="1600" dirty="0" err="1" smtClean="0"/>
              <a:t>epoch</a:t>
            </a:r>
            <a:r>
              <a:rPr lang="ru-RU" sz="1600" dirty="0" smtClean="0"/>
              <a:t> </a:t>
            </a:r>
            <a:r>
              <a:rPr lang="ru-RU" sz="1600" dirty="0"/>
              <a:t>- для значений </a:t>
            </a:r>
            <a:r>
              <a:rPr lang="ru-RU" sz="1600" dirty="0" err="1"/>
              <a:t>timestamp</a:t>
            </a:r>
            <a:r>
              <a:rPr lang="ru-RU" sz="1600" dirty="0"/>
              <a:t> </a:t>
            </a:r>
            <a:r>
              <a:rPr lang="ru-RU" sz="1600" dirty="0" err="1"/>
              <a:t>with</a:t>
            </a:r>
            <a:r>
              <a:rPr lang="ru-RU" sz="1600" dirty="0"/>
              <a:t> </a:t>
            </a:r>
            <a:r>
              <a:rPr lang="ru-RU" sz="1600" dirty="0" err="1"/>
              <a:t>time</a:t>
            </a:r>
            <a:r>
              <a:rPr lang="ru-RU" sz="1600" dirty="0"/>
              <a:t> </a:t>
            </a:r>
            <a:r>
              <a:rPr lang="ru-RU" sz="1600" dirty="0" err="1"/>
              <a:t>zone</a:t>
            </a:r>
            <a:r>
              <a:rPr lang="ru-RU" sz="1600" dirty="0"/>
              <a:t> это число секунд с 1970-01-01 00:00:00 UTC (отрицательное для предшествующего времени); для значений </a:t>
            </a:r>
            <a:r>
              <a:rPr lang="ru-RU" sz="1600" dirty="0" err="1"/>
              <a:t>date</a:t>
            </a:r>
            <a:r>
              <a:rPr lang="ru-RU" sz="1600" dirty="0"/>
              <a:t> и </a:t>
            </a:r>
            <a:r>
              <a:rPr lang="ru-RU" sz="1600" dirty="0" err="1"/>
              <a:t>timestamp</a:t>
            </a:r>
            <a:r>
              <a:rPr lang="ru-RU" sz="1600" dirty="0"/>
              <a:t> — номинальное число секунд с 1970-01-01 00:00:00 без учёта часового пояса, переходов на летнее время и т. п.; для значений </a:t>
            </a:r>
            <a:r>
              <a:rPr lang="ru-RU" sz="1600" dirty="0" err="1"/>
              <a:t>interval</a:t>
            </a:r>
            <a:r>
              <a:rPr lang="ru-RU" sz="1600" dirty="0"/>
              <a:t> — общее количество секунд в </a:t>
            </a:r>
            <a:r>
              <a:rPr lang="ru-RU" sz="1600" dirty="0" smtClean="0"/>
              <a:t>интервале.</a:t>
            </a:r>
            <a:endParaRPr lang="ru-RU" sz="2000" dirty="0"/>
          </a:p>
          <a:p>
            <a:pPr marL="457200" indent="-457200">
              <a:buFont typeface="+mj-lt"/>
              <a:buAutoNum type="arabicPeriod" startAt="7"/>
            </a:pPr>
            <a:endParaRPr lang="ru-RU" sz="2000" dirty="0"/>
          </a:p>
          <a:p>
            <a:pPr marL="457200" indent="-457200">
              <a:buFont typeface="+mj-lt"/>
              <a:buAutoNum type="arabicPeriod" startAt="7"/>
            </a:pPr>
            <a:endParaRPr lang="ru-RU" sz="2000" dirty="0"/>
          </a:p>
          <a:p>
            <a:pPr marL="457200" indent="-457200">
              <a:buFont typeface="Arial" panose="020B0604020202020204" pitchFamily="34" charset="0"/>
              <a:buAutoNum type="arabicPeriod" startAt="7"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56830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Системные функции (общие)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endParaRPr lang="ru-RU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0" y="1083152"/>
            <a:ext cx="12192000" cy="57748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000" dirty="0" err="1"/>
              <a:t>t</a:t>
            </a:r>
            <a:r>
              <a:rPr lang="en-US" sz="2000" dirty="0" err="1" smtClean="0"/>
              <a:t>o_char</a:t>
            </a:r>
            <a:r>
              <a:rPr lang="en-US" sz="2000" dirty="0" smtClean="0"/>
              <a:t>( </a:t>
            </a:r>
            <a:r>
              <a:rPr lang="ru-RU" altLang="ru-RU" sz="2000" dirty="0" err="1">
                <a:latin typeface="Arial Unicode MS"/>
              </a:rPr>
              <a:t>value</a:t>
            </a:r>
            <a:r>
              <a:rPr lang="ru-RU" altLang="ru-RU" sz="2000" dirty="0">
                <a:latin typeface="Arial Unicode MS"/>
              </a:rPr>
              <a:t> , </a:t>
            </a:r>
            <a:r>
              <a:rPr lang="ru-RU" altLang="ru-RU" sz="2000" dirty="0" err="1">
                <a:latin typeface="Arial Unicode MS"/>
              </a:rPr>
              <a:t>format</a:t>
            </a:r>
            <a:r>
              <a:rPr lang="ru-RU" altLang="ru-RU" sz="1600" dirty="0"/>
              <a:t> </a:t>
            </a:r>
            <a:r>
              <a:rPr lang="en-US" sz="2000" dirty="0"/>
              <a:t>) – </a:t>
            </a:r>
            <a:r>
              <a:rPr lang="ru-RU" sz="2000" dirty="0"/>
              <a:t>возвращает значение в указанном формате. Возможные форматы: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9 – </a:t>
            </a:r>
            <a:r>
              <a:rPr lang="ru-RU" sz="1600" dirty="0"/>
              <a:t>позиция цифры (может отсутствовать, если цифра незначащая</a:t>
            </a:r>
            <a:r>
              <a:rPr lang="ru-RU" sz="1600" dirty="0" smtClean="0"/>
              <a:t>)</a:t>
            </a:r>
            <a:endParaRPr lang="en-US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0 – </a:t>
            </a:r>
            <a:r>
              <a:rPr lang="ru-RU" sz="1600" dirty="0" smtClean="0"/>
              <a:t>позиция цифры</a:t>
            </a:r>
            <a:endParaRPr lang="en-US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L – </a:t>
            </a:r>
            <a:r>
              <a:rPr lang="ru-RU" sz="1600" dirty="0"/>
              <a:t>символ денежной единицы</a:t>
            </a:r>
            <a:endParaRPr lang="en-US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EEEE </a:t>
            </a:r>
            <a:r>
              <a:rPr lang="en-US" sz="1600" dirty="0"/>
              <a:t>– </a:t>
            </a:r>
            <a:r>
              <a:rPr lang="ru-RU" sz="1600" dirty="0"/>
              <a:t>экспоненциальная запись числа</a:t>
            </a:r>
            <a:endParaRPr lang="en-US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err="1"/>
              <a:t>y</a:t>
            </a:r>
            <a:r>
              <a:rPr lang="en-US" sz="1600" dirty="0" err="1" smtClean="0"/>
              <a:t>yyy</a:t>
            </a:r>
            <a:r>
              <a:rPr lang="en-US" sz="1600" dirty="0" smtClean="0"/>
              <a:t> – </a:t>
            </a:r>
            <a:r>
              <a:rPr lang="ru-RU" sz="1600" dirty="0" smtClean="0"/>
              <a:t>год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/>
              <a:t>Q</a:t>
            </a:r>
            <a:r>
              <a:rPr lang="en-US" sz="1600" dirty="0" smtClean="0"/>
              <a:t> </a:t>
            </a:r>
            <a:r>
              <a:rPr lang="en-US" sz="1600" dirty="0"/>
              <a:t>– </a:t>
            </a:r>
            <a:r>
              <a:rPr lang="ru-RU" sz="1600" dirty="0" smtClean="0"/>
              <a:t>номер квартала года</a:t>
            </a:r>
            <a:endParaRPr lang="ru-RU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MM </a:t>
            </a:r>
            <a:r>
              <a:rPr lang="en-US" sz="1600" dirty="0"/>
              <a:t>– </a:t>
            </a:r>
            <a:r>
              <a:rPr lang="ru-RU" sz="1600" dirty="0" smtClean="0"/>
              <a:t>номер месяца</a:t>
            </a:r>
            <a:endParaRPr lang="ru-RU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Month </a:t>
            </a:r>
            <a:r>
              <a:rPr lang="en-US" sz="1600" dirty="0"/>
              <a:t>– </a:t>
            </a:r>
            <a:r>
              <a:rPr lang="ru-RU" sz="1600" dirty="0"/>
              <a:t>н</a:t>
            </a:r>
            <a:r>
              <a:rPr lang="ru-RU" sz="1600" dirty="0" smtClean="0"/>
              <a:t>азвание месяца (дополненное пробелами до самого длинного названия месяца, чтобы обрезать пробелы нужно добавить модификатор </a:t>
            </a:r>
            <a:r>
              <a:rPr lang="en-US" sz="1600" dirty="0" smtClean="0"/>
              <a:t>FM</a:t>
            </a:r>
            <a:r>
              <a:rPr lang="ru-RU" sz="1600" dirty="0" smtClean="0"/>
              <a:t>)</a:t>
            </a:r>
            <a:endParaRPr lang="ru-RU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W </a:t>
            </a:r>
            <a:r>
              <a:rPr lang="en-US" sz="1600" dirty="0"/>
              <a:t>– </a:t>
            </a:r>
            <a:r>
              <a:rPr lang="ru-RU" sz="1600" dirty="0" smtClean="0"/>
              <a:t>номер недели в месяце</a:t>
            </a:r>
            <a:endParaRPr lang="ru-RU" sz="1600" dirty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WW </a:t>
            </a:r>
            <a:r>
              <a:rPr lang="en-US" sz="1600" dirty="0"/>
              <a:t>– </a:t>
            </a:r>
            <a:r>
              <a:rPr lang="ru-RU" sz="1600" dirty="0" smtClean="0"/>
              <a:t>номер недели в году</a:t>
            </a:r>
            <a:endParaRPr lang="en-US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D – </a:t>
            </a:r>
            <a:r>
              <a:rPr lang="ru-RU" sz="1600" dirty="0" smtClean="0"/>
              <a:t>день </a:t>
            </a:r>
            <a:r>
              <a:rPr lang="ru-RU" sz="1600" dirty="0"/>
              <a:t>недели (1-7), где 1 – воскресенье. День недели по </a:t>
            </a:r>
            <a:r>
              <a:rPr lang="en-US" sz="1600" dirty="0" smtClean="0"/>
              <a:t>ISO</a:t>
            </a:r>
            <a:r>
              <a:rPr lang="ru-RU" sz="1600" dirty="0" smtClean="0"/>
              <a:t> – </a:t>
            </a:r>
            <a:r>
              <a:rPr lang="en-US" sz="1600" dirty="0" smtClean="0"/>
              <a:t>ID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DD</a:t>
            </a:r>
            <a:r>
              <a:rPr lang="ru-RU" sz="1600" dirty="0" smtClean="0"/>
              <a:t> –</a:t>
            </a:r>
            <a:r>
              <a:rPr lang="en-US" sz="1600" dirty="0" smtClean="0"/>
              <a:t> </a:t>
            </a:r>
            <a:r>
              <a:rPr lang="ru-RU" sz="1600" dirty="0" smtClean="0"/>
              <a:t>день </a:t>
            </a:r>
            <a:r>
              <a:rPr lang="ru-RU" sz="1600" dirty="0"/>
              <a:t>месяца (01-31</a:t>
            </a:r>
            <a:r>
              <a:rPr lang="ru-RU" sz="1600" dirty="0" smtClean="0"/>
              <a:t>)</a:t>
            </a:r>
            <a:endParaRPr lang="en-US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DDD</a:t>
            </a:r>
            <a:r>
              <a:rPr lang="ru-RU" sz="1600" dirty="0" smtClean="0"/>
              <a:t> – день </a:t>
            </a:r>
            <a:r>
              <a:rPr lang="ru-RU" sz="1600" dirty="0"/>
              <a:t>года (001-366</a:t>
            </a:r>
            <a:r>
              <a:rPr lang="ru-RU" sz="16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Day – </a:t>
            </a:r>
            <a:r>
              <a:rPr lang="ru-RU" sz="1600" dirty="0" smtClean="0"/>
              <a:t>полное </a:t>
            </a:r>
            <a:r>
              <a:rPr lang="ru-RU" sz="1600" dirty="0"/>
              <a:t>название дня </a:t>
            </a:r>
            <a:r>
              <a:rPr lang="ru-RU" sz="1600" dirty="0" smtClean="0"/>
              <a:t>недели (дополненное пробелами)</a:t>
            </a:r>
            <a:endParaRPr lang="en-US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HH</a:t>
            </a:r>
            <a:r>
              <a:rPr lang="ru-RU" sz="1600" dirty="0" smtClean="0"/>
              <a:t> – час </a:t>
            </a:r>
            <a:r>
              <a:rPr lang="ru-RU" sz="1600" dirty="0"/>
              <a:t>дня (01-12</a:t>
            </a:r>
            <a:r>
              <a:rPr lang="ru-RU" sz="1600" dirty="0" smtClean="0"/>
              <a:t>). Для 24-часового формата – </a:t>
            </a:r>
            <a:r>
              <a:rPr lang="en-US" sz="1600" dirty="0" smtClean="0"/>
              <a:t>HH</a:t>
            </a:r>
            <a:r>
              <a:rPr lang="ru-RU" sz="1600" dirty="0" smtClean="0"/>
              <a:t>24</a:t>
            </a:r>
            <a:endParaRPr lang="en-US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MI – </a:t>
            </a:r>
            <a:r>
              <a:rPr lang="ru-RU" sz="1600" dirty="0" smtClean="0"/>
              <a:t>минуты </a:t>
            </a:r>
            <a:r>
              <a:rPr lang="ru-RU" sz="1600" dirty="0"/>
              <a:t>(00-59</a:t>
            </a:r>
            <a:r>
              <a:rPr lang="ru-RU" sz="1600" dirty="0" smtClean="0"/>
              <a:t>)</a:t>
            </a:r>
            <a:endParaRPr lang="en-US" sz="1600" dirty="0" smtClean="0"/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SS – </a:t>
            </a:r>
            <a:r>
              <a:rPr lang="ru-RU" sz="1600" dirty="0" smtClean="0"/>
              <a:t>секунды </a:t>
            </a:r>
            <a:r>
              <a:rPr lang="ru-RU" sz="1600" dirty="0"/>
              <a:t>(00-59</a:t>
            </a:r>
            <a:r>
              <a:rPr lang="ru-RU" sz="1600" dirty="0" smtClean="0"/>
              <a:t>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1600" dirty="0" smtClean="0"/>
              <a:t>MS – </a:t>
            </a:r>
            <a:r>
              <a:rPr lang="ru-RU" sz="1600" dirty="0" smtClean="0"/>
              <a:t>миллисекунды </a:t>
            </a:r>
            <a:r>
              <a:rPr lang="ru-RU" sz="1600" dirty="0"/>
              <a:t>(000-999)</a:t>
            </a:r>
          </a:p>
          <a:p>
            <a:pPr marL="914400" lvl="1" indent="-457200">
              <a:buFont typeface="+mj-lt"/>
              <a:buAutoNum type="arabicPeriod"/>
            </a:pPr>
            <a:endParaRPr lang="ru-RU" sz="1600" dirty="0"/>
          </a:p>
          <a:p>
            <a:pPr marL="457200" indent="-457200">
              <a:buFont typeface="+mj-lt"/>
              <a:buAutoNum type="arabicPeriod"/>
            </a:pPr>
            <a:endParaRPr lang="ru-RU" sz="2000" dirty="0" smtClean="0"/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ru-RU" sz="2000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120878"/>
            <a:ext cx="210314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858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Локальные переменные</a:t>
            </a:r>
            <a:endParaRPr lang="ru-RU" b="1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199" y="980973"/>
            <a:ext cx="10515600" cy="12282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 smtClean="0">
                <a:solidFill>
                  <a:srgbClr val="000000"/>
                </a:solidFill>
              </a:rPr>
              <a:t>Синтаксис объявления переменных:</a:t>
            </a:r>
          </a:p>
          <a:p>
            <a:pPr marL="0" indent="0">
              <a:buNone/>
            </a:pPr>
            <a:r>
              <a:rPr lang="en-US" altLang="ru-RU" sz="2400" dirty="0" smtClean="0">
                <a:solidFill>
                  <a:srgbClr val="000000"/>
                </a:solidFill>
              </a:rPr>
              <a:t>name</a:t>
            </a:r>
            <a:r>
              <a:rPr lang="ru-RU" altLang="ru-RU" sz="2400" dirty="0" smtClean="0">
                <a:solidFill>
                  <a:srgbClr val="000000"/>
                </a:solidFill>
              </a:rPr>
              <a:t> </a:t>
            </a:r>
            <a:r>
              <a:rPr lang="ru-RU" altLang="ru-RU" sz="2400" dirty="0">
                <a:solidFill>
                  <a:srgbClr val="000000"/>
                </a:solidFill>
              </a:rPr>
              <a:t>[ CONSTANT ] </a:t>
            </a:r>
            <a:r>
              <a:rPr lang="en-US" altLang="ru-RU" sz="2400" dirty="0" smtClean="0">
                <a:solidFill>
                  <a:srgbClr val="000000"/>
                </a:solidFill>
              </a:rPr>
              <a:t>type</a:t>
            </a:r>
            <a:r>
              <a:rPr lang="ru-RU" altLang="ru-RU" sz="2400" dirty="0" smtClean="0">
                <a:solidFill>
                  <a:srgbClr val="000000"/>
                </a:solidFill>
              </a:rPr>
              <a:t> [ </a:t>
            </a:r>
            <a:r>
              <a:rPr lang="ru-RU" altLang="ru-RU" sz="2400" dirty="0">
                <a:solidFill>
                  <a:srgbClr val="000000"/>
                </a:solidFill>
              </a:rPr>
              <a:t>NOT NULL ] [ { DEFAULT | := | = } </a:t>
            </a:r>
            <a:r>
              <a:rPr lang="en-US" altLang="ru-RU" sz="2400" dirty="0" smtClean="0">
                <a:solidFill>
                  <a:srgbClr val="000000"/>
                </a:solidFill>
              </a:rPr>
              <a:t>expression</a:t>
            </a:r>
            <a:r>
              <a:rPr lang="ru-RU" altLang="ru-RU" sz="2400" dirty="0" smtClean="0">
                <a:solidFill>
                  <a:srgbClr val="000000"/>
                </a:solidFill>
              </a:rPr>
              <a:t> </a:t>
            </a:r>
            <a:r>
              <a:rPr lang="ru-RU" altLang="ru-RU" sz="2400" dirty="0">
                <a:solidFill>
                  <a:srgbClr val="000000"/>
                </a:solidFill>
              </a:rPr>
              <a:t>]; </a:t>
            </a:r>
          </a:p>
          <a:p>
            <a:pPr marL="0" indent="0">
              <a:buNone/>
            </a:pP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208" y="2204866"/>
            <a:ext cx="12201263" cy="256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681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Условный оператор</a:t>
            </a:r>
            <a:endParaRPr lang="ru-RU" b="1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2372" y="1083153"/>
            <a:ext cx="8587253" cy="479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0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CASE</a:t>
            </a:r>
            <a:endParaRPr lang="ru-RU" b="1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49" y="1659852"/>
            <a:ext cx="10575500" cy="281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261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latin typeface="+mn-lt"/>
              </a:rPr>
              <a:t>Циклы</a:t>
            </a:r>
            <a:endParaRPr lang="ru-RU" b="1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12" y="905351"/>
            <a:ext cx="5651564" cy="3607381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028" y="3792107"/>
            <a:ext cx="6892972" cy="306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64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 smtClean="0">
                <a:latin typeface="+mn-lt"/>
              </a:rPr>
              <a:t>Циклы</a:t>
            </a:r>
            <a:endParaRPr lang="ru-RU" b="1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6040" y="1083153"/>
            <a:ext cx="8959918" cy="557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3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Объединение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599" cy="26748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/>
              <a:t>Виды вертикального объединения нескольких наборов данных:</a:t>
            </a:r>
          </a:p>
          <a:p>
            <a:pPr marL="514350" indent="-514350">
              <a:buAutoNum type="arabicPeriod"/>
            </a:pPr>
            <a:endParaRPr lang="ru-RU" sz="3200" dirty="0">
              <a:solidFill>
                <a:srgbClr val="80808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2633" y="1945126"/>
            <a:ext cx="5606306" cy="39467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05629" y="2134908"/>
            <a:ext cx="463957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/>
              <a:t>UNION [ALL]</a:t>
            </a:r>
            <a:endParaRPr lang="ru-RU" sz="3200" dirty="0"/>
          </a:p>
          <a:p>
            <a:pPr marL="514350" indent="-514350">
              <a:buAutoNum type="arabicPeriod"/>
            </a:pPr>
            <a:r>
              <a:rPr lang="en-US" sz="3200" dirty="0"/>
              <a:t>EXCEPT</a:t>
            </a:r>
            <a:endParaRPr lang="ru-RU" sz="3200" dirty="0"/>
          </a:p>
          <a:p>
            <a:pPr marL="514350" indent="-514350">
              <a:buAutoNum type="arabicPeriod"/>
            </a:pPr>
            <a:r>
              <a:rPr lang="en-US" sz="3200" dirty="0"/>
              <a:t>INTERSECT</a:t>
            </a:r>
            <a:endParaRPr lang="ru-RU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500186" y="4517867"/>
            <a:ext cx="61335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808080"/>
                </a:solidFill>
              </a:rPr>
              <a:t>&lt;</a:t>
            </a:r>
            <a:r>
              <a:rPr lang="ru-RU" sz="2800" dirty="0">
                <a:solidFill>
                  <a:srgbClr val="000000"/>
                </a:solidFill>
              </a:rPr>
              <a:t>запрос 1</a:t>
            </a:r>
            <a:r>
              <a:rPr lang="ru-RU" sz="2800" dirty="0">
                <a:solidFill>
                  <a:srgbClr val="808080"/>
                </a:solidFill>
              </a:rPr>
              <a:t>&gt;</a:t>
            </a:r>
            <a:endParaRPr lang="ru-RU" sz="2800" dirty="0">
              <a:solidFill>
                <a:srgbClr val="000000"/>
              </a:solidFill>
            </a:endParaRPr>
          </a:p>
          <a:p>
            <a:r>
              <a:rPr lang="en-US" sz="2800" dirty="0">
                <a:solidFill>
                  <a:srgbClr val="0000FF"/>
                </a:solidFill>
              </a:rPr>
              <a:t>UNION</a:t>
            </a:r>
            <a:r>
              <a:rPr lang="en-US" sz="2800" dirty="0">
                <a:solidFill>
                  <a:srgbClr val="000000"/>
                </a:solidFill>
              </a:rPr>
              <a:t> </a:t>
            </a:r>
            <a:r>
              <a:rPr lang="en-US" sz="2800" dirty="0">
                <a:solidFill>
                  <a:srgbClr val="808080"/>
                </a:solidFill>
              </a:rPr>
              <a:t>[ALL]</a:t>
            </a:r>
            <a:r>
              <a:rPr lang="ru-RU" sz="2800" dirty="0">
                <a:solidFill>
                  <a:srgbClr val="808080"/>
                </a:solidFill>
              </a:rPr>
              <a:t> </a:t>
            </a:r>
            <a:r>
              <a:rPr lang="en-US" sz="2800" dirty="0">
                <a:solidFill>
                  <a:srgbClr val="808080"/>
                </a:solidFill>
              </a:rPr>
              <a:t>| </a:t>
            </a:r>
            <a:r>
              <a:rPr lang="en-US" sz="2800" dirty="0">
                <a:solidFill>
                  <a:srgbClr val="0000FF"/>
                </a:solidFill>
              </a:rPr>
              <a:t>EXCEPT</a:t>
            </a:r>
            <a:r>
              <a:rPr lang="en-US" sz="2800" dirty="0"/>
              <a:t> | </a:t>
            </a:r>
            <a:r>
              <a:rPr lang="en-US" sz="2800" dirty="0">
                <a:solidFill>
                  <a:srgbClr val="0000FF"/>
                </a:solidFill>
              </a:rPr>
              <a:t>INTERSECT</a:t>
            </a:r>
            <a:r>
              <a:rPr lang="en-US" sz="2800" dirty="0">
                <a:solidFill>
                  <a:srgbClr val="808080"/>
                </a:solidFill>
              </a:rPr>
              <a:t> </a:t>
            </a:r>
            <a:endParaRPr lang="en-US" sz="2800" dirty="0">
              <a:solidFill>
                <a:srgbClr val="000000"/>
              </a:solidFill>
            </a:endParaRPr>
          </a:p>
          <a:p>
            <a:r>
              <a:rPr lang="ru-RU" sz="2800" dirty="0">
                <a:solidFill>
                  <a:srgbClr val="808080"/>
                </a:solidFill>
              </a:rPr>
              <a:t>&lt;</a:t>
            </a:r>
            <a:r>
              <a:rPr lang="ru-RU" sz="2800" dirty="0">
                <a:solidFill>
                  <a:srgbClr val="000000"/>
                </a:solidFill>
              </a:rPr>
              <a:t>запрос 2</a:t>
            </a:r>
            <a:r>
              <a:rPr lang="ru-RU" sz="2800" dirty="0">
                <a:solidFill>
                  <a:srgbClr val="80808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60557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Условия объединения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5631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ru-RU" dirty="0"/>
              <a:t>Количество выходных столбцов каждого из запросов должно быть одинаковым.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Выходные столбцы каждого из запросов должны быть сравнимыми между собой (в порядке их следования) по типам данных.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В результирующем наборе используются имена столбцов, заданные в первом запросе.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Предложение ORDER BY применяется к результату соединения, поэтому оно может быть указано только в конце составного запроса.</a:t>
            </a:r>
          </a:p>
        </p:txBody>
      </p:sp>
    </p:spTree>
    <p:extLst>
      <p:ext uri="{BB962C8B-B14F-4D97-AF65-F5344CB8AC3E}">
        <p14:creationId xmlns:p14="http://schemas.microsoft.com/office/powerpoint/2010/main" val="227907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UNION</a:t>
            </a:r>
            <a:endParaRPr lang="ru-RU" dirty="0">
              <a:latin typeface="+mn-lt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614" y="2848049"/>
            <a:ext cx="7510386" cy="400995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33204"/>
            <a:ext cx="4689401" cy="385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5219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 </a:t>
            </a:r>
            <a:r>
              <a:rPr lang="en-US" dirty="0">
                <a:latin typeface="+mn-lt"/>
              </a:rPr>
              <a:t>EXCEPT</a:t>
            </a:r>
            <a:endParaRPr lang="ru-RU" dirty="0"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479" y="1396262"/>
            <a:ext cx="8991040" cy="375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933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Оператор</a:t>
            </a:r>
            <a:r>
              <a:rPr lang="en-US" dirty="0">
                <a:latin typeface="+mn-lt"/>
              </a:rPr>
              <a:t> INTERSECT</a:t>
            </a:r>
            <a:endParaRPr lang="ru-RU" dirty="0">
              <a:latin typeface="+mn-lt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360" y="1280812"/>
            <a:ext cx="10955279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8846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Операции соединения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5631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dirty="0"/>
              <a:t>JOIN-соединения</a:t>
            </a:r>
            <a:r>
              <a:rPr lang="ru-RU" dirty="0"/>
              <a:t> – операции горизонтального соединения данных. Операции горизонтального соединения таблицы с другими таблицами используются для того, чтобы получить из них недостающие данные.</a:t>
            </a:r>
            <a:endParaRPr lang="ru-RU" dirty="0">
              <a:solidFill>
                <a:srgbClr val="0000FF"/>
              </a:solidFill>
            </a:endParaRPr>
          </a:p>
          <a:p>
            <a:pPr marL="0" indent="0">
              <a:buNone/>
            </a:pPr>
            <a:endParaRPr lang="ru-RU" dirty="0">
              <a:solidFill>
                <a:srgbClr val="0000FF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SELECT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имена столбцов</a:t>
            </a:r>
            <a:r>
              <a:rPr lang="ru-RU" dirty="0">
                <a:solidFill>
                  <a:srgbClr val="808080"/>
                </a:solidFill>
              </a:rPr>
              <a:t>&gt;</a:t>
            </a:r>
            <a:endParaRPr lang="ru-RU" dirty="0">
              <a:solidFill>
                <a:srgbClr val="00000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>
                <a:solidFill>
                  <a:srgbClr val="80808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таблица 1</a:t>
            </a:r>
            <a:r>
              <a:rPr lang="ru-RU" dirty="0">
                <a:solidFill>
                  <a:srgbClr val="808080"/>
                </a:solidFill>
              </a:rPr>
              <a:t>&gt;</a:t>
            </a:r>
            <a:r>
              <a:rPr lang="ru-RU" dirty="0">
                <a:solidFill>
                  <a:srgbClr val="000000"/>
                </a:solidFill>
              </a:rPr>
              <a:t> [</a:t>
            </a:r>
            <a:r>
              <a:rPr lang="en-US" dirty="0">
                <a:solidFill>
                  <a:srgbClr val="000000"/>
                </a:solidFill>
              </a:rPr>
              <a:t>INNER]       </a:t>
            </a:r>
            <a:r>
              <a:rPr lang="en-US" dirty="0">
                <a:solidFill>
                  <a:srgbClr val="808080"/>
                </a:solidFill>
              </a:rPr>
              <a:t>|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808080"/>
                </a:solidFill>
              </a:rPr>
              <a:t>{{LEFT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>
                <a:solidFill>
                  <a:srgbClr val="808080"/>
                </a:solidFill>
              </a:rPr>
              <a:t>|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>
                <a:solidFill>
                  <a:srgbClr val="808080"/>
                </a:solidFill>
              </a:rPr>
              <a:t>RIGHT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>
                <a:solidFill>
                  <a:srgbClr val="808080"/>
                </a:solidFill>
              </a:rPr>
              <a:t>|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>
                <a:solidFill>
                  <a:srgbClr val="0000FF"/>
                </a:solidFill>
              </a:rPr>
              <a:t>FULL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>
                <a:solidFill>
                  <a:srgbClr val="808080"/>
                </a:solidFill>
              </a:rPr>
              <a:t>}</a:t>
            </a:r>
            <a:r>
              <a:rPr lang="en-US" dirty="0">
                <a:solidFill>
                  <a:srgbClr val="000000"/>
                </a:solidFill>
              </a:rPr>
              <a:t> [OUTER]</a:t>
            </a:r>
            <a:r>
              <a:rPr lang="en-US" dirty="0">
                <a:solidFill>
                  <a:srgbClr val="808080"/>
                </a:solidFill>
              </a:rPr>
              <a:t>}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>
                <a:solidFill>
                  <a:srgbClr val="808080"/>
                </a:solidFill>
              </a:rPr>
              <a:t>JOIN</a:t>
            </a:r>
            <a:r>
              <a:rPr lang="en-US" dirty="0">
                <a:solidFill>
                  <a:srgbClr val="000000"/>
                </a:solidFill>
              </a:rPr>
              <a:t> </a:t>
            </a:r>
            <a:r>
              <a:rPr lang="en-US" dirty="0">
                <a:solidFill>
                  <a:srgbClr val="808080"/>
                </a:solidFill>
              </a:rPr>
              <a:t>&lt;</a:t>
            </a:r>
            <a:r>
              <a:rPr lang="ru-RU" dirty="0">
                <a:solidFill>
                  <a:srgbClr val="000000"/>
                </a:solidFill>
              </a:rPr>
              <a:t>таблица 2</a:t>
            </a:r>
            <a:r>
              <a:rPr lang="ru-RU" dirty="0">
                <a:solidFill>
                  <a:srgbClr val="808080"/>
                </a:solidFill>
              </a:rPr>
              <a:t>&gt;</a:t>
            </a:r>
            <a:r>
              <a:rPr lang="ru-RU" dirty="0">
                <a:solidFill>
                  <a:srgbClr val="000000"/>
                </a:solidFill>
              </a:rPr>
              <a:t> [</a:t>
            </a:r>
            <a:r>
              <a:rPr lang="en-US" dirty="0">
                <a:solidFill>
                  <a:srgbClr val="000000"/>
                </a:solidFill>
              </a:rPr>
              <a:t>ON &lt;</a:t>
            </a:r>
            <a:r>
              <a:rPr lang="ru-RU" dirty="0">
                <a:solidFill>
                  <a:srgbClr val="000000"/>
                </a:solidFill>
              </a:rPr>
              <a:t>предикат&gt;]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32150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Операции соединения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56316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Есть пять типов соединения:</a:t>
            </a:r>
          </a:p>
          <a:p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JOIN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FF0000"/>
                </a:solidFill>
              </a:rPr>
              <a:t>–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левая_таблица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JOIN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правая_таблица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FF"/>
                </a:solidFill>
              </a:rPr>
              <a:t>ON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условия_соединения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LEFT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JOIN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FF0000"/>
                </a:solidFill>
              </a:rPr>
              <a:t>–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левая_таблица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LEFT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JOIN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правая_таблица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FF"/>
                </a:solidFill>
              </a:rPr>
              <a:t>ON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условия_соединения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RIGHT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JOIN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FF0000"/>
                </a:solidFill>
              </a:rPr>
              <a:t>–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левая_таблица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RIGHT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JOIN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правая_таблица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FF"/>
                </a:solidFill>
              </a:rPr>
              <a:t>ON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условия_соединения</a:t>
            </a:r>
            <a:endParaRPr lang="ru-RU" sz="2000" dirty="0">
              <a:solidFill>
                <a:srgbClr val="000000"/>
              </a:solidFill>
            </a:endParaRPr>
          </a:p>
          <a:p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FF"/>
                </a:solidFill>
              </a:rPr>
              <a:t>FULL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JOIN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FF0000"/>
                </a:solidFill>
              </a:rPr>
              <a:t>–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левая_таблица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FF"/>
                </a:solidFill>
              </a:rPr>
              <a:t>FULL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808080"/>
                </a:solidFill>
              </a:rPr>
              <a:t>JOIN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>
                <a:solidFill>
                  <a:srgbClr val="000000"/>
                </a:solidFill>
              </a:rPr>
              <a:t>правая_таблица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>
                <a:solidFill>
                  <a:srgbClr val="0000FF"/>
                </a:solidFill>
              </a:rPr>
              <a:t>ON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ru-RU" sz="2000" dirty="0" err="1" smtClean="0">
                <a:solidFill>
                  <a:srgbClr val="000000"/>
                </a:solidFill>
              </a:rPr>
              <a:t>условия_соединения</a:t>
            </a:r>
            <a:endParaRPr lang="en-US" sz="2000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CROSS JOIN – </a:t>
            </a:r>
            <a:r>
              <a:rPr lang="ru-RU" sz="2000" dirty="0" err="1" smtClean="0">
                <a:solidFill>
                  <a:srgbClr val="000000"/>
                </a:solidFill>
              </a:rPr>
              <a:t>левая_таблица</a:t>
            </a:r>
            <a:r>
              <a:rPr lang="ru-RU" sz="2000" dirty="0" smtClean="0">
                <a:solidFill>
                  <a:srgbClr val="000000"/>
                </a:solidFill>
              </a:rPr>
              <a:t> </a:t>
            </a:r>
            <a:r>
              <a:rPr lang="en-US" sz="2000" dirty="0" smtClean="0">
                <a:solidFill>
                  <a:srgbClr val="000000"/>
                </a:solidFill>
              </a:rPr>
              <a:t>CROSS JOIN </a:t>
            </a:r>
            <a:r>
              <a:rPr lang="ru-RU" sz="2000" dirty="0" err="1" smtClean="0">
                <a:solidFill>
                  <a:srgbClr val="000000"/>
                </a:solidFill>
              </a:rPr>
              <a:t>правая_таблица</a:t>
            </a:r>
            <a:endParaRPr lang="ru-RU" sz="2000" dirty="0" smtClean="0">
              <a:solidFill>
                <a:srgbClr val="000000"/>
              </a:solidFill>
            </a:endParaRPr>
          </a:p>
          <a:p>
            <a:r>
              <a:rPr lang="en-US" sz="2000" dirty="0" smtClean="0">
                <a:solidFill>
                  <a:srgbClr val="000000"/>
                </a:solidFill>
              </a:rPr>
              <a:t>NATURAL JOIN – </a:t>
            </a:r>
            <a:r>
              <a:rPr lang="ru-RU" sz="2000" dirty="0" err="1">
                <a:solidFill>
                  <a:srgbClr val="000000"/>
                </a:solidFill>
              </a:rPr>
              <a:t>левая_таблица</a:t>
            </a:r>
            <a:r>
              <a:rPr lang="ru-RU" sz="2000" dirty="0">
                <a:solidFill>
                  <a:srgbClr val="000000"/>
                </a:solidFill>
              </a:rPr>
              <a:t> </a:t>
            </a:r>
            <a:r>
              <a:rPr lang="en-US" sz="2000" dirty="0" smtClean="0">
                <a:solidFill>
                  <a:srgbClr val="000000"/>
                </a:solidFill>
              </a:rPr>
              <a:t>NATURAL JOIN </a:t>
            </a:r>
            <a:r>
              <a:rPr lang="ru-RU" sz="2000" dirty="0" err="1" smtClean="0">
                <a:solidFill>
                  <a:srgbClr val="000000"/>
                </a:solidFill>
              </a:rPr>
              <a:t>правая_таблица</a:t>
            </a:r>
            <a:endParaRPr lang="ru-RU" sz="2000" dirty="0">
              <a:solidFill>
                <a:srgbClr val="000000"/>
              </a:solidFill>
            </a:endParaRPr>
          </a:p>
        </p:txBody>
      </p:sp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127FF106-09E6-C31A-C08A-1EEF829D8E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7350449"/>
              </p:ext>
            </p:extLst>
          </p:nvPr>
        </p:nvGraphicFramePr>
        <p:xfrm>
          <a:off x="1725876" y="2"/>
          <a:ext cx="8740245" cy="6857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2" name="Bitmap Image" r:id="rId4" imgW="6369120" imgH="4997520" progId="Paint.Picture.1">
                  <p:embed/>
                </p:oleObj>
              </mc:Choice>
              <mc:Fallback>
                <p:oleObj name="Bitmap Image" r:id="rId4" imgW="6369120" imgH="499752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5876" y="2"/>
                        <a:ext cx="8740245" cy="6857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3357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Внутреннее соединение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14628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3200" dirty="0"/>
              <a:t>Из строк левой и правой</a:t>
            </a:r>
            <a:r>
              <a:rPr lang="en-US" sz="3200" dirty="0"/>
              <a:t> </a:t>
            </a:r>
            <a:r>
              <a:rPr lang="ru-RU" sz="3200" dirty="0"/>
              <a:t>таблицы объединяются и возвращаются только те строки, по которым выполняются условия</a:t>
            </a:r>
            <a:r>
              <a:rPr lang="en-US" sz="3200" dirty="0"/>
              <a:t> </a:t>
            </a:r>
            <a:r>
              <a:rPr lang="ru-RU" sz="3200" dirty="0"/>
              <a:t>соединения.</a:t>
            </a:r>
            <a:endParaRPr lang="en-US" sz="32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334" y="3099914"/>
            <a:ext cx="5207000" cy="23345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6334" y="2243665"/>
            <a:ext cx="6730684" cy="404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7547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Внешнее</a:t>
            </a:r>
            <a:r>
              <a:rPr lang="en-US" dirty="0">
                <a:latin typeface="+mn-lt"/>
              </a:rPr>
              <a:t> </a:t>
            </a:r>
            <a:r>
              <a:rPr lang="ru-RU" dirty="0">
                <a:latin typeface="+mn-lt"/>
              </a:rPr>
              <a:t>левое соединение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17337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Возвращаются все строки левой</a:t>
            </a:r>
            <a:r>
              <a:rPr lang="en-US" dirty="0"/>
              <a:t> </a:t>
            </a:r>
            <a:r>
              <a:rPr lang="ru-RU" dirty="0"/>
              <a:t>таблицы. Данными правой</a:t>
            </a:r>
            <a:r>
              <a:rPr lang="en-US" dirty="0"/>
              <a:t> </a:t>
            </a:r>
            <a:r>
              <a:rPr lang="ru-RU" dirty="0"/>
              <a:t>таблицы дополняются только те строки левой</a:t>
            </a:r>
            <a:r>
              <a:rPr lang="en-US" dirty="0"/>
              <a:t> </a:t>
            </a:r>
            <a:r>
              <a:rPr lang="ru-RU" dirty="0"/>
              <a:t>таблицы, для которых выполняются условия</a:t>
            </a:r>
            <a:r>
              <a:rPr lang="en-US" dirty="0"/>
              <a:t> </a:t>
            </a:r>
            <a:r>
              <a:rPr lang="ru-RU" dirty="0"/>
              <a:t>соединения. Для недостающих данных вместо строк правой</a:t>
            </a:r>
            <a:r>
              <a:rPr lang="en-US" dirty="0"/>
              <a:t> </a:t>
            </a:r>
            <a:r>
              <a:rPr lang="ru-RU" dirty="0"/>
              <a:t>таблицы вставляются NULL-значения.</a:t>
            </a:r>
            <a:endParaRPr lang="ru-RU" sz="3200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5735" y="2785533"/>
            <a:ext cx="7440528" cy="388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001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Внешнее правое соединение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6"/>
            <a:ext cx="10515600" cy="1682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Возвращаются все строки правой</a:t>
            </a:r>
            <a:r>
              <a:rPr lang="en-US" dirty="0"/>
              <a:t> </a:t>
            </a:r>
            <a:r>
              <a:rPr lang="ru-RU" dirty="0"/>
              <a:t>таблицы. Данными левой</a:t>
            </a:r>
            <a:r>
              <a:rPr lang="en-US" dirty="0"/>
              <a:t> </a:t>
            </a:r>
            <a:r>
              <a:rPr lang="ru-RU" dirty="0"/>
              <a:t>таблицы дополняются только те строки правой</a:t>
            </a:r>
            <a:r>
              <a:rPr lang="en-US" dirty="0"/>
              <a:t> </a:t>
            </a:r>
            <a:r>
              <a:rPr lang="ru-RU" dirty="0"/>
              <a:t>таблицы, для которых выполняются условия</a:t>
            </a:r>
            <a:r>
              <a:rPr lang="en-US" dirty="0"/>
              <a:t> </a:t>
            </a:r>
            <a:r>
              <a:rPr lang="ru-RU" dirty="0"/>
              <a:t>соединения. Для недостающих данных вместо строк левой</a:t>
            </a:r>
            <a:r>
              <a:rPr lang="en-US" dirty="0"/>
              <a:t> </a:t>
            </a:r>
            <a:r>
              <a:rPr lang="ru-RU" dirty="0"/>
              <a:t>таблицы вставляются NULL-значения.</a:t>
            </a:r>
            <a:endParaRPr lang="en-US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3633" y="2734733"/>
            <a:ext cx="6864731" cy="411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0851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latin typeface="+mn-lt"/>
              </a:rPr>
              <a:t>Внешнее полное соединение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7"/>
            <a:ext cx="10515600" cy="202164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dirty="0"/>
              <a:t>Возвращаются все строки левой</a:t>
            </a:r>
            <a:r>
              <a:rPr lang="en-US" sz="2400" dirty="0"/>
              <a:t> </a:t>
            </a:r>
            <a:r>
              <a:rPr lang="ru-RU" sz="2400" dirty="0"/>
              <a:t>таблицы и правой</a:t>
            </a:r>
            <a:r>
              <a:rPr lang="en-US" sz="2400" dirty="0"/>
              <a:t> </a:t>
            </a:r>
            <a:r>
              <a:rPr lang="ru-RU" sz="2400" dirty="0"/>
              <a:t>таблицы. Если для строк левой</a:t>
            </a:r>
            <a:r>
              <a:rPr lang="en-US" sz="2400" dirty="0"/>
              <a:t> </a:t>
            </a:r>
            <a:r>
              <a:rPr lang="ru-RU" sz="2400" dirty="0"/>
              <a:t>таблицы и правой</a:t>
            </a:r>
            <a:r>
              <a:rPr lang="en-US" sz="2400" dirty="0"/>
              <a:t> </a:t>
            </a:r>
            <a:r>
              <a:rPr lang="ru-RU" sz="2400" dirty="0"/>
              <a:t>таблицы выполняются условия</a:t>
            </a:r>
            <a:r>
              <a:rPr lang="en-US" sz="2400" dirty="0"/>
              <a:t> </a:t>
            </a:r>
            <a:r>
              <a:rPr lang="ru-RU" sz="2400" dirty="0"/>
              <a:t>соединения, то они объединяются в одну строку. Для строк, для которых не выполняются условия</a:t>
            </a:r>
            <a:r>
              <a:rPr lang="en-US" sz="2400" dirty="0"/>
              <a:t> </a:t>
            </a:r>
            <a:r>
              <a:rPr lang="ru-RU" sz="2400" dirty="0"/>
              <a:t>соединения, NULL-значения вставляются на место левой</a:t>
            </a:r>
            <a:r>
              <a:rPr lang="en-US" sz="2400" dirty="0"/>
              <a:t> </a:t>
            </a:r>
            <a:r>
              <a:rPr lang="ru-RU" sz="2400" dirty="0"/>
              <a:t>таблицы, либо на место правой</a:t>
            </a:r>
            <a:r>
              <a:rPr lang="en-US" sz="2400" dirty="0"/>
              <a:t> </a:t>
            </a:r>
            <a:r>
              <a:rPr lang="ru-RU" sz="2400" dirty="0"/>
              <a:t>таблицы, в зависимости от того данных какой таблицы в строке не имеется.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333" y="3073401"/>
            <a:ext cx="6831332" cy="369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4391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0DE468-260D-C57D-F2E1-0CD8AA67D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"/>
            <a:ext cx="10515600" cy="1083152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>
                <a:latin typeface="+mn-lt"/>
              </a:rPr>
              <a:t>Перекрёстное </a:t>
            </a:r>
            <a:r>
              <a:rPr lang="ru-RU" dirty="0" smtClean="0">
                <a:latin typeface="+mn-lt"/>
              </a:rPr>
              <a:t>соединение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>
                <a:latin typeface="+mn-lt"/>
              </a:rPr>
              <a:t>(декартово произведение)</a:t>
            </a:r>
            <a:endParaRPr lang="ru-RU" dirty="0">
              <a:latin typeface="+mn-lt"/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7A4FDD3-A8E5-7C2C-2C7B-CDD7D96129D8}"/>
              </a:ext>
            </a:extLst>
          </p:cNvPr>
          <p:cNvSpPr txBox="1">
            <a:spLocks/>
          </p:cNvSpPr>
          <p:nvPr/>
        </p:nvSpPr>
        <p:spPr>
          <a:xfrm>
            <a:off x="838200" y="1051757"/>
            <a:ext cx="10515600" cy="8617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Объединение каждой строки левой таблицы </a:t>
            </a:r>
            <a:r>
              <a:rPr lang="en-US" dirty="0"/>
              <a:t>c</a:t>
            </a:r>
            <a:r>
              <a:rPr lang="ru-RU" dirty="0"/>
              <a:t> каждой строкой</a:t>
            </a:r>
            <a:r>
              <a:rPr lang="en-US" dirty="0"/>
              <a:t> </a:t>
            </a:r>
            <a:r>
              <a:rPr lang="ru-RU" dirty="0"/>
              <a:t>правой таблицы.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387" y="2143127"/>
            <a:ext cx="7099223" cy="164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51833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/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Окаймленный край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5951</TotalTime>
  <Words>3888</Words>
  <Application>Microsoft Office PowerPoint</Application>
  <PresentationFormat>Широкоэкранный</PresentationFormat>
  <Paragraphs>561</Paragraphs>
  <Slides>92</Slides>
  <Notes>92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92</vt:i4>
      </vt:variant>
    </vt:vector>
  </HeadingPairs>
  <TitlesOfParts>
    <vt:vector size="98" baseType="lpstr">
      <vt:lpstr>Arial</vt:lpstr>
      <vt:lpstr>Arial Unicode MS</vt:lpstr>
      <vt:lpstr>Calibri</vt:lpstr>
      <vt:lpstr>Times New Roman</vt:lpstr>
      <vt:lpstr>Тема Office</vt:lpstr>
      <vt:lpstr>Bitmap Image</vt:lpstr>
      <vt:lpstr>Структурированный язык запросов</vt:lpstr>
      <vt:lpstr>SQL</vt:lpstr>
      <vt:lpstr>Состав языка SQL</vt:lpstr>
      <vt:lpstr>Презентация PowerPoint</vt:lpstr>
      <vt:lpstr>Презентация PowerPoint</vt:lpstr>
      <vt:lpstr>Презентация PowerPoint</vt:lpstr>
      <vt:lpstr>DDL – язык определения данных</vt:lpstr>
      <vt:lpstr>Задача</vt:lpstr>
      <vt:lpstr>Числовые типы данных</vt:lpstr>
      <vt:lpstr>Символьные типы данных</vt:lpstr>
      <vt:lpstr>Типы данных, представляющие дату и время</vt:lpstr>
      <vt:lpstr>Создание пользователей/ролей</vt:lpstr>
      <vt:lpstr>Создание базы данных</vt:lpstr>
      <vt:lpstr>Удаление базы данных</vt:lpstr>
      <vt:lpstr>Создание таблицы</vt:lpstr>
      <vt:lpstr>Создать таблицу product</vt:lpstr>
      <vt:lpstr>Клонирование таблиц</vt:lpstr>
      <vt:lpstr>Переименование</vt:lpstr>
      <vt:lpstr>Добавление столбцов</vt:lpstr>
      <vt:lpstr>Изменение типа данных</vt:lpstr>
      <vt:lpstr>Удаление столбцов</vt:lpstr>
      <vt:lpstr>Удаление таблиц</vt:lpstr>
      <vt:lpstr>Ограничения целостности</vt:lpstr>
      <vt:lpstr>Типы ограничений целостности</vt:lpstr>
      <vt:lpstr>Ограничение на отсутствие значений</vt:lpstr>
      <vt:lpstr>Определение значений по умолчанию</vt:lpstr>
      <vt:lpstr>Определение значений по умолчанию</vt:lpstr>
      <vt:lpstr>Ограничение уникальности</vt:lpstr>
      <vt:lpstr>Ограничение уникальности</vt:lpstr>
      <vt:lpstr>Свойства первичного ключа</vt:lpstr>
      <vt:lpstr>Ограничения первичных ключей</vt:lpstr>
      <vt:lpstr>Свойства внешних ключей</vt:lpstr>
      <vt:lpstr>Ограничения внешних ключей</vt:lpstr>
      <vt:lpstr>Ограничение на значение</vt:lpstr>
      <vt:lpstr>Удаление ограничений</vt:lpstr>
      <vt:lpstr>DML – язык манипулирования данными</vt:lpstr>
      <vt:lpstr>Вставка новых данных</vt:lpstr>
      <vt:lpstr>Импорт данных из CSV файла</vt:lpstr>
      <vt:lpstr>Импорт данных из JSON файла (1 способ)</vt:lpstr>
      <vt:lpstr>Импорт данных из JSON файла (2 способ)</vt:lpstr>
      <vt:lpstr>Обновление данных</vt:lpstr>
      <vt:lpstr>Удаление данных</vt:lpstr>
      <vt:lpstr>DQL – язык запросов к данным</vt:lpstr>
      <vt:lpstr>Типы операций</vt:lpstr>
      <vt:lpstr>Общая структура запроса</vt:lpstr>
      <vt:lpstr>Операции выборки</vt:lpstr>
      <vt:lpstr>Операции проекции</vt:lpstr>
      <vt:lpstr>Использование AS</vt:lpstr>
      <vt:lpstr>Агрегатные функции</vt:lpstr>
      <vt:lpstr>Агрегатные функции</vt:lpstr>
      <vt:lpstr>Оператор WHERE</vt:lpstr>
      <vt:lpstr>Операторы сравнения</vt:lpstr>
      <vt:lpstr>Оператор BETWEEN</vt:lpstr>
      <vt:lpstr>Оператор BETWEEN</vt:lpstr>
      <vt:lpstr>Оператор LIKE</vt:lpstr>
      <vt:lpstr>Оператор LIKE</vt:lpstr>
      <vt:lpstr>Оператор IS NULL</vt:lpstr>
      <vt:lpstr>Оператор IN</vt:lpstr>
      <vt:lpstr>Комбинации операторов</vt:lpstr>
      <vt:lpstr>Подзапросы</vt:lpstr>
      <vt:lpstr>Несколько таблиц в операторе FROM</vt:lpstr>
      <vt:lpstr>Оператор DISTINCT</vt:lpstr>
      <vt:lpstr>Оператор ORDER BY</vt:lpstr>
      <vt:lpstr>Оператор ORDER BY</vt:lpstr>
      <vt:lpstr>Оператор ORDER BY</vt:lpstr>
      <vt:lpstr>Оператор GROUP BY</vt:lpstr>
      <vt:lpstr>Оператор GROUP BY</vt:lpstr>
      <vt:lpstr>Оператор GROUP BY</vt:lpstr>
      <vt:lpstr>Оператор HAVING</vt:lpstr>
      <vt:lpstr>Системные функции (числа)</vt:lpstr>
      <vt:lpstr>Системные функции (строки)</vt:lpstr>
      <vt:lpstr>Системные функции (строки)</vt:lpstr>
      <vt:lpstr>Системные функции (даты)</vt:lpstr>
      <vt:lpstr>Системные функции (даты)</vt:lpstr>
      <vt:lpstr>Системные функции (общие)</vt:lpstr>
      <vt:lpstr>Локальные переменные</vt:lpstr>
      <vt:lpstr>Условный оператор</vt:lpstr>
      <vt:lpstr>Оператор CASE</vt:lpstr>
      <vt:lpstr>Циклы</vt:lpstr>
      <vt:lpstr>Циклы</vt:lpstr>
      <vt:lpstr>Объединение</vt:lpstr>
      <vt:lpstr>Условия объединения</vt:lpstr>
      <vt:lpstr>Оператор UNION</vt:lpstr>
      <vt:lpstr>Оператор EXCEPT</vt:lpstr>
      <vt:lpstr>Оператор INTERSECT</vt:lpstr>
      <vt:lpstr>Операции соединения</vt:lpstr>
      <vt:lpstr>Операции соединения</vt:lpstr>
      <vt:lpstr>Внутреннее соединение</vt:lpstr>
      <vt:lpstr>Внешнее левое соединение</vt:lpstr>
      <vt:lpstr>Внешнее правое соединение</vt:lpstr>
      <vt:lpstr>Внешнее полное соединение</vt:lpstr>
      <vt:lpstr>Перекрёстное соединение (декартово произведение)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баз данных</dc:title>
  <dc:subject>Инфологическое проектирование</dc:subject>
  <dc:creator>lector</dc:creator>
  <cp:lastModifiedBy>Lector</cp:lastModifiedBy>
  <cp:revision>926</cp:revision>
  <dcterms:created xsi:type="dcterms:W3CDTF">2022-09-18T09:57:37Z</dcterms:created>
  <dcterms:modified xsi:type="dcterms:W3CDTF">2026-01-14T06:48:04Z</dcterms:modified>
</cp:coreProperties>
</file>